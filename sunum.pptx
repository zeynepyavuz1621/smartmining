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62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tr-TR" dirty="0" err="1">
                <a:solidFill>
                  <a:schemeClr val="bg2"/>
                </a:solidFill>
              </a:rPr>
              <a:t>Sharpe</a:t>
            </a:r>
            <a:r>
              <a:rPr lang="tr-TR" dirty="0">
                <a:solidFill>
                  <a:schemeClr val="bg2"/>
                </a:solidFill>
              </a:rPr>
              <a:t> </a:t>
            </a:r>
            <a:r>
              <a:rPr lang="tr-TR" dirty="0" err="1">
                <a:solidFill>
                  <a:schemeClr val="bg2"/>
                </a:solidFill>
              </a:rPr>
              <a:t>Ratio</a:t>
            </a:r>
            <a:endParaRPr lang="tr-TR" dirty="0">
              <a:solidFill>
                <a:schemeClr val="bg2"/>
              </a:solidFill>
            </a:endParaRP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5.3685655484978077E-2"/>
          <c:y val="2.0260136016095047E-2"/>
          <c:w val="0.91989005310086203"/>
          <c:h val="0.810039276408078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Strateji (best parameter set)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1B2E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Sheet1!$A$3:$A$10</c:f>
              <c:strCache>
                <c:ptCount val="8"/>
                <c:pt idx="0">
                  <c:v>CPER</c:v>
                </c:pt>
                <c:pt idx="1">
                  <c:v>LIT</c:v>
                </c:pt>
                <c:pt idx="2">
                  <c:v>PPLT</c:v>
                </c:pt>
                <c:pt idx="3">
                  <c:v>PALL</c:v>
                </c:pt>
                <c:pt idx="4">
                  <c:v>SLV</c:v>
                </c:pt>
                <c:pt idx="5">
                  <c:v>GLD</c:v>
                </c:pt>
                <c:pt idx="6">
                  <c:v>JJN</c:v>
                </c:pt>
                <c:pt idx="7">
                  <c:v>JJU</c:v>
                </c:pt>
              </c:strCache>
            </c:strRef>
          </c:cat>
          <c:val>
            <c:numRef>
              <c:f>Sheet1!$B$3:$B$10</c:f>
              <c:numCache>
                <c:formatCode>General</c:formatCode>
                <c:ptCount val="8"/>
                <c:pt idx="0">
                  <c:v>0.44</c:v>
                </c:pt>
                <c:pt idx="1">
                  <c:v>0.72</c:v>
                </c:pt>
                <c:pt idx="2">
                  <c:v>0.72</c:v>
                </c:pt>
                <c:pt idx="3">
                  <c:v>0.82</c:v>
                </c:pt>
                <c:pt idx="4">
                  <c:v>0.89</c:v>
                </c:pt>
                <c:pt idx="5">
                  <c:v>1.19</c:v>
                </c:pt>
                <c:pt idx="6">
                  <c:v>0.71</c:v>
                </c:pt>
                <c:pt idx="7">
                  <c:v>1.1399999999999999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50-4E6D-9D18-3A5090CB429C}"/>
            </c:ext>
          </c:extLst>
        </c:ser>
        <c:ser>
          <c:idx val="1"/>
          <c:order val="1"/>
          <c:tx>
            <c:strRef>
              <c:f>Sheet1!$C$2</c:f>
              <c:strCache>
                <c:ptCount val="1"/>
                <c:pt idx="0">
                  <c:v>Benchmark (buy-hold)</c:v>
                </c:pt>
              </c:strCache>
            </c:strRef>
          </c:tx>
          <c:spPr>
            <a:solidFill>
              <a:srgbClr val="E9D5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1B2E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Sheet1!$A$3:$A$10</c:f>
              <c:strCache>
                <c:ptCount val="8"/>
                <c:pt idx="0">
                  <c:v>CPER</c:v>
                </c:pt>
                <c:pt idx="1">
                  <c:v>LIT</c:v>
                </c:pt>
                <c:pt idx="2">
                  <c:v>PPLT</c:v>
                </c:pt>
                <c:pt idx="3">
                  <c:v>PALL</c:v>
                </c:pt>
                <c:pt idx="4">
                  <c:v>SLV</c:v>
                </c:pt>
                <c:pt idx="5">
                  <c:v>GLD</c:v>
                </c:pt>
                <c:pt idx="6">
                  <c:v>JJN</c:v>
                </c:pt>
                <c:pt idx="7">
                  <c:v>JJU</c:v>
                </c:pt>
              </c:strCache>
            </c:strRef>
          </c:cat>
          <c:val>
            <c:numRef>
              <c:f>Sheet1!$C$3:$C$10</c:f>
              <c:numCache>
                <c:formatCode>General</c:formatCode>
                <c:ptCount val="8"/>
                <c:pt idx="0">
                  <c:v>0.49099999999999999</c:v>
                </c:pt>
                <c:pt idx="1">
                  <c:v>0.17799999999999999</c:v>
                </c:pt>
                <c:pt idx="2">
                  <c:v>0.62</c:v>
                </c:pt>
                <c:pt idx="3">
                  <c:v>-5.0000000000000001E-3</c:v>
                </c:pt>
                <c:pt idx="4">
                  <c:v>0.83799999999999997</c:v>
                </c:pt>
                <c:pt idx="5">
                  <c:v>1.087</c:v>
                </c:pt>
                <c:pt idx="6">
                  <c:v>0.41899999999999998</c:v>
                </c:pt>
                <c:pt idx="7">
                  <c:v>0.217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50-4E6D-9D18-3A5090CB42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-0.2"/>
        </c:scaling>
        <c:delete val="0"/>
        <c:axPos val="l"/>
        <c:majorGridlines>
          <c:spPr>
            <a:ln w="6350" cap="flat">
              <a:solidFill>
                <a:srgbClr val="F3F4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tr-TR" dirty="0" err="1">
                <a:solidFill>
                  <a:schemeClr val="bg2"/>
                </a:solidFill>
              </a:rPr>
              <a:t>Average</a:t>
            </a:r>
            <a:r>
              <a:rPr lang="tr-TR" dirty="0">
                <a:solidFill>
                  <a:schemeClr val="bg2"/>
                </a:solidFill>
              </a:rPr>
              <a:t> Cash in Portfolio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Ortalama nakit oranı (%)</c:v>
                </c:pt>
              </c:strCache>
            </c:strRef>
          </c:tx>
          <c:spPr>
            <a:solidFill>
              <a:srgbClr val="DB277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1B2E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CPER</c:v>
                </c:pt>
                <c:pt idx="1">
                  <c:v>LIT</c:v>
                </c:pt>
                <c:pt idx="2">
                  <c:v>PPLT</c:v>
                </c:pt>
                <c:pt idx="3">
                  <c:v>PALL</c:v>
                </c:pt>
                <c:pt idx="4">
                  <c:v>SLV</c:v>
                </c:pt>
                <c:pt idx="5">
                  <c:v>GLD</c:v>
                </c:pt>
                <c:pt idx="6">
                  <c:v>JJN</c:v>
                </c:pt>
                <c:pt idx="7">
                  <c:v>JJU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43.3</c:v>
                </c:pt>
                <c:pt idx="1">
                  <c:v>60.3</c:v>
                </c:pt>
                <c:pt idx="2">
                  <c:v>68.599999999999994</c:v>
                </c:pt>
                <c:pt idx="3">
                  <c:v>73.8</c:v>
                </c:pt>
                <c:pt idx="4">
                  <c:v>42</c:v>
                </c:pt>
                <c:pt idx="5">
                  <c:v>34</c:v>
                </c:pt>
                <c:pt idx="6">
                  <c:v>86.1</c:v>
                </c:pt>
                <c:pt idx="7">
                  <c:v>60.5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85-42E9-A1D7-051E1E16EA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F3F4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D46A8D-84E3-4E0A-962E-AE4A538FD4A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563583-299E-4FBB-B663-923CBBBA7F38}">
      <dgm:prSet custT="1"/>
      <dgm:spPr/>
      <dgm:t>
        <a:bodyPr/>
        <a:lstStyle/>
        <a:p>
          <a:r>
            <a:rPr lang="en-US" sz="2200" b="1" dirty="0"/>
            <a:t>CPER</a:t>
          </a:r>
          <a:r>
            <a:rPr lang="tr-TR" sz="2200" b="1" dirty="0"/>
            <a:t> </a:t>
          </a:r>
        </a:p>
        <a:p>
          <a:r>
            <a:rPr lang="en-US" sz="1600" b="0" dirty="0"/>
            <a:t>US Copper Index Fund</a:t>
          </a:r>
        </a:p>
      </dgm:t>
    </dgm:pt>
    <dgm:pt modelId="{22F068BE-EB94-443C-91AB-C6E784ECA85E}" type="parTrans" cxnId="{B1A82026-92F0-4602-86FB-177DF0F6DDB8}">
      <dgm:prSet/>
      <dgm:spPr/>
      <dgm:t>
        <a:bodyPr/>
        <a:lstStyle/>
        <a:p>
          <a:endParaRPr lang="en-US"/>
        </a:p>
      </dgm:t>
    </dgm:pt>
    <dgm:pt modelId="{2C503AD0-A9F8-4CB7-AC00-5D1E9844C147}" type="sibTrans" cxnId="{B1A82026-92F0-4602-86FB-177DF0F6DDB8}">
      <dgm:prSet/>
      <dgm:spPr/>
      <dgm:t>
        <a:bodyPr/>
        <a:lstStyle/>
        <a:p>
          <a:endParaRPr lang="en-US"/>
        </a:p>
      </dgm:t>
    </dgm:pt>
    <dgm:pt modelId="{84944404-3DCA-4762-ABC9-C2988419D3AE}">
      <dgm:prSet custT="1"/>
      <dgm:spPr/>
      <dgm:t>
        <a:bodyPr/>
        <a:lstStyle/>
        <a:p>
          <a:r>
            <a:rPr lang="tr-TR" sz="2200" b="1" dirty="0"/>
            <a:t>LIT </a:t>
          </a:r>
        </a:p>
        <a:p>
          <a:r>
            <a:rPr lang="en-US" sz="1600" b="0" dirty="0"/>
            <a:t>Global X Lithium &amp; Battery</a:t>
          </a:r>
        </a:p>
      </dgm:t>
    </dgm:pt>
    <dgm:pt modelId="{E429E8C1-EEF1-4A20-976C-B723D6955CE4}" type="parTrans" cxnId="{4CCB25B8-42BF-4E7C-B201-A7DFD8FDBF7A}">
      <dgm:prSet/>
      <dgm:spPr/>
      <dgm:t>
        <a:bodyPr/>
        <a:lstStyle/>
        <a:p>
          <a:endParaRPr lang="en-US"/>
        </a:p>
      </dgm:t>
    </dgm:pt>
    <dgm:pt modelId="{B0FE298D-6A0D-47CE-98AC-A7D914203073}" type="sibTrans" cxnId="{4CCB25B8-42BF-4E7C-B201-A7DFD8FDBF7A}">
      <dgm:prSet/>
      <dgm:spPr/>
      <dgm:t>
        <a:bodyPr/>
        <a:lstStyle/>
        <a:p>
          <a:endParaRPr lang="en-US"/>
        </a:p>
      </dgm:t>
    </dgm:pt>
    <dgm:pt modelId="{B543449E-44E8-43AA-9C02-DC59989F7400}">
      <dgm:prSet custT="1"/>
      <dgm:spPr/>
      <dgm:t>
        <a:bodyPr/>
        <a:lstStyle/>
        <a:p>
          <a:r>
            <a:rPr lang="tr-TR" sz="2200" b="1" dirty="0"/>
            <a:t>JIN </a:t>
          </a:r>
        </a:p>
        <a:p>
          <a:r>
            <a:rPr lang="en-US" sz="1600" b="0" dirty="0"/>
            <a:t>Bloomberg Nickel ETN</a:t>
          </a:r>
        </a:p>
      </dgm:t>
    </dgm:pt>
    <dgm:pt modelId="{C5BD04B9-D631-42E9-A843-23467B9DC027}" type="parTrans" cxnId="{383BACF4-3AF2-4B02-8247-1F6353FAA20F}">
      <dgm:prSet/>
      <dgm:spPr/>
      <dgm:t>
        <a:bodyPr/>
        <a:lstStyle/>
        <a:p>
          <a:endParaRPr lang="en-US"/>
        </a:p>
      </dgm:t>
    </dgm:pt>
    <dgm:pt modelId="{0572CBEE-8C46-4541-8327-35C071B49455}" type="sibTrans" cxnId="{383BACF4-3AF2-4B02-8247-1F6353FAA20F}">
      <dgm:prSet/>
      <dgm:spPr/>
      <dgm:t>
        <a:bodyPr/>
        <a:lstStyle/>
        <a:p>
          <a:endParaRPr lang="en-US"/>
        </a:p>
      </dgm:t>
    </dgm:pt>
    <dgm:pt modelId="{3C6052D2-8747-4558-9100-B0607BBA3F76}">
      <dgm:prSet custT="1"/>
      <dgm:spPr/>
      <dgm:t>
        <a:bodyPr/>
        <a:lstStyle/>
        <a:p>
          <a:r>
            <a:rPr lang="tr-TR" sz="2200" b="1" dirty="0"/>
            <a:t>JJU</a:t>
          </a:r>
        </a:p>
        <a:p>
          <a:r>
            <a:rPr lang="en-US" sz="1600" b="0" dirty="0"/>
            <a:t>Bloomberg </a:t>
          </a:r>
          <a:r>
            <a:rPr lang="en-US" sz="1600" b="0" dirty="0" err="1"/>
            <a:t>Aluminium</a:t>
          </a:r>
          <a:r>
            <a:rPr lang="en-US" sz="1600" b="0" dirty="0"/>
            <a:t> ETN</a:t>
          </a:r>
        </a:p>
      </dgm:t>
    </dgm:pt>
    <dgm:pt modelId="{7FB84E60-C955-42FD-B935-77518FBD24D4}" type="parTrans" cxnId="{80824EA7-EAFA-49AA-8005-8417FBA57186}">
      <dgm:prSet/>
      <dgm:spPr/>
      <dgm:t>
        <a:bodyPr/>
        <a:lstStyle/>
        <a:p>
          <a:endParaRPr lang="en-US"/>
        </a:p>
      </dgm:t>
    </dgm:pt>
    <dgm:pt modelId="{DD137E59-ED2F-443B-88B0-54798B11FA7E}" type="sibTrans" cxnId="{80824EA7-EAFA-49AA-8005-8417FBA57186}">
      <dgm:prSet/>
      <dgm:spPr/>
      <dgm:t>
        <a:bodyPr/>
        <a:lstStyle/>
        <a:p>
          <a:endParaRPr lang="en-US"/>
        </a:p>
      </dgm:t>
    </dgm:pt>
    <dgm:pt modelId="{116C67EC-590C-4C25-ABBA-2C9456DAD857}">
      <dgm:prSet custT="1"/>
      <dgm:spPr/>
      <dgm:t>
        <a:bodyPr/>
        <a:lstStyle/>
        <a:p>
          <a:r>
            <a:rPr lang="tr-TR" sz="2800" b="1" dirty="0"/>
            <a:t>SLV </a:t>
          </a:r>
        </a:p>
        <a:p>
          <a:r>
            <a:rPr lang="en-US" sz="1600" b="0" dirty="0"/>
            <a:t>iShares Silver Trust</a:t>
          </a:r>
        </a:p>
      </dgm:t>
    </dgm:pt>
    <dgm:pt modelId="{CCC8B9E5-9ABA-484B-96FA-D4DC63853EB6}" type="parTrans" cxnId="{DDDE7530-2A2F-4580-AD90-FA362CFEDCA1}">
      <dgm:prSet/>
      <dgm:spPr/>
      <dgm:t>
        <a:bodyPr/>
        <a:lstStyle/>
        <a:p>
          <a:endParaRPr lang="en-US"/>
        </a:p>
      </dgm:t>
    </dgm:pt>
    <dgm:pt modelId="{B1D80DEA-A544-4F4A-9636-446C953F86DD}" type="sibTrans" cxnId="{DDDE7530-2A2F-4580-AD90-FA362CFEDCA1}">
      <dgm:prSet/>
      <dgm:spPr/>
      <dgm:t>
        <a:bodyPr/>
        <a:lstStyle/>
        <a:p>
          <a:endParaRPr lang="en-US"/>
        </a:p>
      </dgm:t>
    </dgm:pt>
    <dgm:pt modelId="{F657D18C-2D57-4249-95F8-3167550E8956}">
      <dgm:prSet custT="1"/>
      <dgm:spPr/>
      <dgm:t>
        <a:bodyPr/>
        <a:lstStyle/>
        <a:p>
          <a:r>
            <a:rPr lang="tr-TR" sz="2300" b="1" dirty="0"/>
            <a:t>PPLT</a:t>
          </a:r>
        </a:p>
        <a:p>
          <a:r>
            <a:rPr lang="en-US" sz="1600" b="0" dirty="0"/>
            <a:t>Aberdeen Physical Platinum</a:t>
          </a:r>
          <a:endParaRPr lang="en-US" sz="2300" dirty="0"/>
        </a:p>
      </dgm:t>
    </dgm:pt>
    <dgm:pt modelId="{2453E97A-C6B0-467C-8B8E-544148B34CE9}" type="parTrans" cxnId="{D6E92911-011A-4375-9287-F98D500F0607}">
      <dgm:prSet/>
      <dgm:spPr/>
      <dgm:t>
        <a:bodyPr/>
        <a:lstStyle/>
        <a:p>
          <a:endParaRPr lang="en-US"/>
        </a:p>
      </dgm:t>
    </dgm:pt>
    <dgm:pt modelId="{B11429F4-7618-48F9-AE27-8FB36D52391A}" type="sibTrans" cxnId="{D6E92911-011A-4375-9287-F98D500F0607}">
      <dgm:prSet/>
      <dgm:spPr/>
      <dgm:t>
        <a:bodyPr/>
        <a:lstStyle/>
        <a:p>
          <a:endParaRPr lang="en-US"/>
        </a:p>
      </dgm:t>
    </dgm:pt>
    <dgm:pt modelId="{81C83A1E-8079-4FB9-85D0-388A36CA9F3F}">
      <dgm:prSet custT="1"/>
      <dgm:spPr/>
      <dgm:t>
        <a:bodyPr/>
        <a:lstStyle/>
        <a:p>
          <a:r>
            <a:rPr lang="en-US" sz="2200" b="1" dirty="0"/>
            <a:t>PALL</a:t>
          </a:r>
          <a:endParaRPr lang="tr-TR" sz="2200" b="1" dirty="0"/>
        </a:p>
        <a:p>
          <a:r>
            <a:rPr lang="en-US" sz="1600" b="0" dirty="0"/>
            <a:t>Aberdeen Physical Palladium</a:t>
          </a:r>
        </a:p>
      </dgm:t>
    </dgm:pt>
    <dgm:pt modelId="{A31EE049-660F-40E6-9544-4ACB1D620CCE}" type="parTrans" cxnId="{9BD397FB-DD3A-44DD-AD8E-435F9EB1C743}">
      <dgm:prSet/>
      <dgm:spPr/>
      <dgm:t>
        <a:bodyPr/>
        <a:lstStyle/>
        <a:p>
          <a:endParaRPr lang="en-US"/>
        </a:p>
      </dgm:t>
    </dgm:pt>
    <dgm:pt modelId="{6E31B784-0B9F-4BAE-AA54-F96E4A3538EC}" type="sibTrans" cxnId="{9BD397FB-DD3A-44DD-AD8E-435F9EB1C743}">
      <dgm:prSet/>
      <dgm:spPr/>
      <dgm:t>
        <a:bodyPr/>
        <a:lstStyle/>
        <a:p>
          <a:endParaRPr lang="en-US"/>
        </a:p>
      </dgm:t>
    </dgm:pt>
    <dgm:pt modelId="{C389540E-C2FC-48DB-8F27-C5BF8377EC5C}">
      <dgm:prSet custT="1"/>
      <dgm:spPr/>
      <dgm:t>
        <a:bodyPr/>
        <a:lstStyle/>
        <a:p>
          <a:r>
            <a:rPr lang="en-US" sz="2200" b="1" dirty="0"/>
            <a:t>GLD</a:t>
          </a:r>
          <a:endParaRPr lang="tr-TR" sz="2200" b="1" dirty="0"/>
        </a:p>
        <a:p>
          <a:r>
            <a:rPr lang="en-US" sz="1600" b="0" dirty="0"/>
            <a:t>SPDR Gold Shares</a:t>
          </a:r>
        </a:p>
      </dgm:t>
    </dgm:pt>
    <dgm:pt modelId="{5577A21A-8C29-42C2-9546-CEC329046BD7}" type="parTrans" cxnId="{9ED5F207-9518-4E0C-B88C-CB1264EB3329}">
      <dgm:prSet/>
      <dgm:spPr/>
      <dgm:t>
        <a:bodyPr/>
        <a:lstStyle/>
        <a:p>
          <a:endParaRPr lang="en-US"/>
        </a:p>
      </dgm:t>
    </dgm:pt>
    <dgm:pt modelId="{5E68C417-5AE3-4B97-BEDA-FA2655341AEF}" type="sibTrans" cxnId="{9ED5F207-9518-4E0C-B88C-CB1264EB3329}">
      <dgm:prSet/>
      <dgm:spPr/>
      <dgm:t>
        <a:bodyPr/>
        <a:lstStyle/>
        <a:p>
          <a:endParaRPr lang="en-US"/>
        </a:p>
      </dgm:t>
    </dgm:pt>
    <dgm:pt modelId="{AA802130-7E4D-44A2-8459-6C6CB2FFB310}" type="pres">
      <dgm:prSet presAssocID="{B3D46A8D-84E3-4E0A-962E-AE4A538FD4AC}" presName="diagram" presStyleCnt="0">
        <dgm:presLayoutVars>
          <dgm:dir/>
          <dgm:resizeHandles val="exact"/>
        </dgm:presLayoutVars>
      </dgm:prSet>
      <dgm:spPr/>
    </dgm:pt>
    <dgm:pt modelId="{50DD9EA0-6F91-4A08-82D6-ABCA419E97C0}" type="pres">
      <dgm:prSet presAssocID="{91563583-299E-4FBB-B663-923CBBBA7F38}" presName="node" presStyleLbl="node1" presStyleIdx="0" presStyleCnt="8">
        <dgm:presLayoutVars>
          <dgm:bulletEnabled val="1"/>
        </dgm:presLayoutVars>
      </dgm:prSet>
      <dgm:spPr/>
    </dgm:pt>
    <dgm:pt modelId="{FB00C4F0-7C0B-4535-A9C3-2D1A61E962AA}" type="pres">
      <dgm:prSet presAssocID="{2C503AD0-A9F8-4CB7-AC00-5D1E9844C147}" presName="sibTrans" presStyleCnt="0"/>
      <dgm:spPr/>
    </dgm:pt>
    <dgm:pt modelId="{50E4393B-9008-4E52-A8B6-557AF80EA151}" type="pres">
      <dgm:prSet presAssocID="{84944404-3DCA-4762-ABC9-C2988419D3AE}" presName="node" presStyleLbl="node1" presStyleIdx="1" presStyleCnt="8">
        <dgm:presLayoutVars>
          <dgm:bulletEnabled val="1"/>
        </dgm:presLayoutVars>
      </dgm:prSet>
      <dgm:spPr/>
    </dgm:pt>
    <dgm:pt modelId="{35BDC5E3-5DAF-4468-94EF-4F82DB30E58E}" type="pres">
      <dgm:prSet presAssocID="{B0FE298D-6A0D-47CE-98AC-A7D914203073}" presName="sibTrans" presStyleCnt="0"/>
      <dgm:spPr/>
    </dgm:pt>
    <dgm:pt modelId="{869FAC6B-1021-45DE-B166-B579121AFF62}" type="pres">
      <dgm:prSet presAssocID="{B543449E-44E8-43AA-9C02-DC59989F7400}" presName="node" presStyleLbl="node1" presStyleIdx="2" presStyleCnt="8">
        <dgm:presLayoutVars>
          <dgm:bulletEnabled val="1"/>
        </dgm:presLayoutVars>
      </dgm:prSet>
      <dgm:spPr/>
    </dgm:pt>
    <dgm:pt modelId="{EF986F52-79ED-4447-9276-F27288D14071}" type="pres">
      <dgm:prSet presAssocID="{0572CBEE-8C46-4541-8327-35C071B49455}" presName="sibTrans" presStyleCnt="0"/>
      <dgm:spPr/>
    </dgm:pt>
    <dgm:pt modelId="{3BCC43D9-4562-479B-97FE-59E5D1FD4ADF}" type="pres">
      <dgm:prSet presAssocID="{3C6052D2-8747-4558-9100-B0607BBA3F76}" presName="node" presStyleLbl="node1" presStyleIdx="3" presStyleCnt="8">
        <dgm:presLayoutVars>
          <dgm:bulletEnabled val="1"/>
        </dgm:presLayoutVars>
      </dgm:prSet>
      <dgm:spPr/>
    </dgm:pt>
    <dgm:pt modelId="{C9FACFBB-A841-458D-91D2-C43C588B627D}" type="pres">
      <dgm:prSet presAssocID="{DD137E59-ED2F-443B-88B0-54798B11FA7E}" presName="sibTrans" presStyleCnt="0"/>
      <dgm:spPr/>
    </dgm:pt>
    <dgm:pt modelId="{360E8187-5D83-4DEB-A51D-D4182965BEE3}" type="pres">
      <dgm:prSet presAssocID="{116C67EC-590C-4C25-ABBA-2C9456DAD857}" presName="node" presStyleLbl="node1" presStyleIdx="4" presStyleCnt="8">
        <dgm:presLayoutVars>
          <dgm:bulletEnabled val="1"/>
        </dgm:presLayoutVars>
      </dgm:prSet>
      <dgm:spPr/>
    </dgm:pt>
    <dgm:pt modelId="{A2057436-B3CD-4CB9-9C83-21EA682D5164}" type="pres">
      <dgm:prSet presAssocID="{B1D80DEA-A544-4F4A-9636-446C953F86DD}" presName="sibTrans" presStyleCnt="0"/>
      <dgm:spPr/>
    </dgm:pt>
    <dgm:pt modelId="{6B730B49-49EB-49FA-80ED-106C9FB91F76}" type="pres">
      <dgm:prSet presAssocID="{F657D18C-2D57-4249-95F8-3167550E8956}" presName="node" presStyleLbl="node1" presStyleIdx="5" presStyleCnt="8">
        <dgm:presLayoutVars>
          <dgm:bulletEnabled val="1"/>
        </dgm:presLayoutVars>
      </dgm:prSet>
      <dgm:spPr/>
    </dgm:pt>
    <dgm:pt modelId="{D291D09D-4207-47D9-873F-995FFBCA0821}" type="pres">
      <dgm:prSet presAssocID="{B11429F4-7618-48F9-AE27-8FB36D52391A}" presName="sibTrans" presStyleCnt="0"/>
      <dgm:spPr/>
    </dgm:pt>
    <dgm:pt modelId="{DFEFA73D-FB17-4B11-84C7-E0652C4EB56B}" type="pres">
      <dgm:prSet presAssocID="{81C83A1E-8079-4FB9-85D0-388A36CA9F3F}" presName="node" presStyleLbl="node1" presStyleIdx="6" presStyleCnt="8">
        <dgm:presLayoutVars>
          <dgm:bulletEnabled val="1"/>
        </dgm:presLayoutVars>
      </dgm:prSet>
      <dgm:spPr/>
    </dgm:pt>
    <dgm:pt modelId="{ECA16E84-94D3-46C6-8B7A-5EAD35C9E52A}" type="pres">
      <dgm:prSet presAssocID="{6E31B784-0B9F-4BAE-AA54-F96E4A3538EC}" presName="sibTrans" presStyleCnt="0"/>
      <dgm:spPr/>
    </dgm:pt>
    <dgm:pt modelId="{536A5B53-2CA4-4E41-8277-AC9F929CFC6A}" type="pres">
      <dgm:prSet presAssocID="{C389540E-C2FC-48DB-8F27-C5BF8377EC5C}" presName="node" presStyleLbl="node1" presStyleIdx="7" presStyleCnt="8">
        <dgm:presLayoutVars>
          <dgm:bulletEnabled val="1"/>
        </dgm:presLayoutVars>
      </dgm:prSet>
      <dgm:spPr/>
    </dgm:pt>
  </dgm:ptLst>
  <dgm:cxnLst>
    <dgm:cxn modelId="{9ED5F207-9518-4E0C-B88C-CB1264EB3329}" srcId="{B3D46A8D-84E3-4E0A-962E-AE4A538FD4AC}" destId="{C389540E-C2FC-48DB-8F27-C5BF8377EC5C}" srcOrd="7" destOrd="0" parTransId="{5577A21A-8C29-42C2-9546-CEC329046BD7}" sibTransId="{5E68C417-5AE3-4B97-BEDA-FA2655341AEF}"/>
    <dgm:cxn modelId="{D6E92911-011A-4375-9287-F98D500F0607}" srcId="{B3D46A8D-84E3-4E0A-962E-AE4A538FD4AC}" destId="{F657D18C-2D57-4249-95F8-3167550E8956}" srcOrd="5" destOrd="0" parTransId="{2453E97A-C6B0-467C-8B8E-544148B34CE9}" sibTransId="{B11429F4-7618-48F9-AE27-8FB36D52391A}"/>
    <dgm:cxn modelId="{C2C8771B-6707-4FB4-8C0C-7FD96B095156}" type="presOf" srcId="{B3D46A8D-84E3-4E0A-962E-AE4A538FD4AC}" destId="{AA802130-7E4D-44A2-8459-6C6CB2FFB310}" srcOrd="0" destOrd="0" presId="urn:microsoft.com/office/officeart/2005/8/layout/default"/>
    <dgm:cxn modelId="{C13B241E-D6AA-4EB0-A0EE-089395BFFD9A}" type="presOf" srcId="{B543449E-44E8-43AA-9C02-DC59989F7400}" destId="{869FAC6B-1021-45DE-B166-B579121AFF62}" srcOrd="0" destOrd="0" presId="urn:microsoft.com/office/officeart/2005/8/layout/default"/>
    <dgm:cxn modelId="{B1A82026-92F0-4602-86FB-177DF0F6DDB8}" srcId="{B3D46A8D-84E3-4E0A-962E-AE4A538FD4AC}" destId="{91563583-299E-4FBB-B663-923CBBBA7F38}" srcOrd="0" destOrd="0" parTransId="{22F068BE-EB94-443C-91AB-C6E784ECA85E}" sibTransId="{2C503AD0-A9F8-4CB7-AC00-5D1E9844C147}"/>
    <dgm:cxn modelId="{DDDE7530-2A2F-4580-AD90-FA362CFEDCA1}" srcId="{B3D46A8D-84E3-4E0A-962E-AE4A538FD4AC}" destId="{116C67EC-590C-4C25-ABBA-2C9456DAD857}" srcOrd="4" destOrd="0" parTransId="{CCC8B9E5-9ABA-484B-96FA-D4DC63853EB6}" sibTransId="{B1D80DEA-A544-4F4A-9636-446C953F86DD}"/>
    <dgm:cxn modelId="{6C96523D-506B-452C-99BB-C2666F02B904}" type="presOf" srcId="{81C83A1E-8079-4FB9-85D0-388A36CA9F3F}" destId="{DFEFA73D-FB17-4B11-84C7-E0652C4EB56B}" srcOrd="0" destOrd="0" presId="urn:microsoft.com/office/officeart/2005/8/layout/default"/>
    <dgm:cxn modelId="{C51E8E67-AF87-4C27-916D-C3A2C2D21636}" type="presOf" srcId="{3C6052D2-8747-4558-9100-B0607BBA3F76}" destId="{3BCC43D9-4562-479B-97FE-59E5D1FD4ADF}" srcOrd="0" destOrd="0" presId="urn:microsoft.com/office/officeart/2005/8/layout/default"/>
    <dgm:cxn modelId="{80824EA7-EAFA-49AA-8005-8417FBA57186}" srcId="{B3D46A8D-84E3-4E0A-962E-AE4A538FD4AC}" destId="{3C6052D2-8747-4558-9100-B0607BBA3F76}" srcOrd="3" destOrd="0" parTransId="{7FB84E60-C955-42FD-B935-77518FBD24D4}" sibTransId="{DD137E59-ED2F-443B-88B0-54798B11FA7E}"/>
    <dgm:cxn modelId="{D9C307AA-00FA-4913-B848-6FFAF65284EE}" type="presOf" srcId="{91563583-299E-4FBB-B663-923CBBBA7F38}" destId="{50DD9EA0-6F91-4A08-82D6-ABCA419E97C0}" srcOrd="0" destOrd="0" presId="urn:microsoft.com/office/officeart/2005/8/layout/default"/>
    <dgm:cxn modelId="{4CCB25B8-42BF-4E7C-B201-A7DFD8FDBF7A}" srcId="{B3D46A8D-84E3-4E0A-962E-AE4A538FD4AC}" destId="{84944404-3DCA-4762-ABC9-C2988419D3AE}" srcOrd="1" destOrd="0" parTransId="{E429E8C1-EEF1-4A20-976C-B723D6955CE4}" sibTransId="{B0FE298D-6A0D-47CE-98AC-A7D914203073}"/>
    <dgm:cxn modelId="{2B0F1ABE-7DDB-4357-9956-1F41DA30E4A7}" type="presOf" srcId="{F657D18C-2D57-4249-95F8-3167550E8956}" destId="{6B730B49-49EB-49FA-80ED-106C9FB91F76}" srcOrd="0" destOrd="0" presId="urn:microsoft.com/office/officeart/2005/8/layout/default"/>
    <dgm:cxn modelId="{5D9175C3-4D5E-4014-9140-E41D160572F9}" type="presOf" srcId="{C389540E-C2FC-48DB-8F27-C5BF8377EC5C}" destId="{536A5B53-2CA4-4E41-8277-AC9F929CFC6A}" srcOrd="0" destOrd="0" presId="urn:microsoft.com/office/officeart/2005/8/layout/default"/>
    <dgm:cxn modelId="{141C27C7-D508-4AD3-AAAA-5E7B77547667}" type="presOf" srcId="{116C67EC-590C-4C25-ABBA-2C9456DAD857}" destId="{360E8187-5D83-4DEB-A51D-D4182965BEE3}" srcOrd="0" destOrd="0" presId="urn:microsoft.com/office/officeart/2005/8/layout/default"/>
    <dgm:cxn modelId="{B2AE69E1-0249-425B-B898-1A700F64BF7A}" type="presOf" srcId="{84944404-3DCA-4762-ABC9-C2988419D3AE}" destId="{50E4393B-9008-4E52-A8B6-557AF80EA151}" srcOrd="0" destOrd="0" presId="urn:microsoft.com/office/officeart/2005/8/layout/default"/>
    <dgm:cxn modelId="{383BACF4-3AF2-4B02-8247-1F6353FAA20F}" srcId="{B3D46A8D-84E3-4E0A-962E-AE4A538FD4AC}" destId="{B543449E-44E8-43AA-9C02-DC59989F7400}" srcOrd="2" destOrd="0" parTransId="{C5BD04B9-D631-42E9-A843-23467B9DC027}" sibTransId="{0572CBEE-8C46-4541-8327-35C071B49455}"/>
    <dgm:cxn modelId="{9BD397FB-DD3A-44DD-AD8E-435F9EB1C743}" srcId="{B3D46A8D-84E3-4E0A-962E-AE4A538FD4AC}" destId="{81C83A1E-8079-4FB9-85D0-388A36CA9F3F}" srcOrd="6" destOrd="0" parTransId="{A31EE049-660F-40E6-9544-4ACB1D620CCE}" sibTransId="{6E31B784-0B9F-4BAE-AA54-F96E4A3538EC}"/>
    <dgm:cxn modelId="{5BF9810D-09BE-474F-AB7D-486D0EC1B244}" type="presParOf" srcId="{AA802130-7E4D-44A2-8459-6C6CB2FFB310}" destId="{50DD9EA0-6F91-4A08-82D6-ABCA419E97C0}" srcOrd="0" destOrd="0" presId="urn:microsoft.com/office/officeart/2005/8/layout/default"/>
    <dgm:cxn modelId="{C5E798B6-8CEB-4D6F-8D79-1A2E2757B8A1}" type="presParOf" srcId="{AA802130-7E4D-44A2-8459-6C6CB2FFB310}" destId="{FB00C4F0-7C0B-4535-A9C3-2D1A61E962AA}" srcOrd="1" destOrd="0" presId="urn:microsoft.com/office/officeart/2005/8/layout/default"/>
    <dgm:cxn modelId="{54582688-B278-46AC-AD11-439B3E22CB01}" type="presParOf" srcId="{AA802130-7E4D-44A2-8459-6C6CB2FFB310}" destId="{50E4393B-9008-4E52-A8B6-557AF80EA151}" srcOrd="2" destOrd="0" presId="urn:microsoft.com/office/officeart/2005/8/layout/default"/>
    <dgm:cxn modelId="{FCA30FFC-143B-493F-B392-2C85186BC0F1}" type="presParOf" srcId="{AA802130-7E4D-44A2-8459-6C6CB2FFB310}" destId="{35BDC5E3-5DAF-4468-94EF-4F82DB30E58E}" srcOrd="3" destOrd="0" presId="urn:microsoft.com/office/officeart/2005/8/layout/default"/>
    <dgm:cxn modelId="{D54F1DFA-CA57-43D4-90D3-B37E7F5FFBF7}" type="presParOf" srcId="{AA802130-7E4D-44A2-8459-6C6CB2FFB310}" destId="{869FAC6B-1021-45DE-B166-B579121AFF62}" srcOrd="4" destOrd="0" presId="urn:microsoft.com/office/officeart/2005/8/layout/default"/>
    <dgm:cxn modelId="{D16B5B22-092E-4318-9C78-AA95C38DF485}" type="presParOf" srcId="{AA802130-7E4D-44A2-8459-6C6CB2FFB310}" destId="{EF986F52-79ED-4447-9276-F27288D14071}" srcOrd="5" destOrd="0" presId="urn:microsoft.com/office/officeart/2005/8/layout/default"/>
    <dgm:cxn modelId="{A4FA564F-41EA-4E3C-999E-C0BCDFC644F7}" type="presParOf" srcId="{AA802130-7E4D-44A2-8459-6C6CB2FFB310}" destId="{3BCC43D9-4562-479B-97FE-59E5D1FD4ADF}" srcOrd="6" destOrd="0" presId="urn:microsoft.com/office/officeart/2005/8/layout/default"/>
    <dgm:cxn modelId="{0C7BCBA2-885F-436C-87DB-3486FBCA56EB}" type="presParOf" srcId="{AA802130-7E4D-44A2-8459-6C6CB2FFB310}" destId="{C9FACFBB-A841-458D-91D2-C43C588B627D}" srcOrd="7" destOrd="0" presId="urn:microsoft.com/office/officeart/2005/8/layout/default"/>
    <dgm:cxn modelId="{12B1F698-697A-42EE-8ACB-47B36211B821}" type="presParOf" srcId="{AA802130-7E4D-44A2-8459-6C6CB2FFB310}" destId="{360E8187-5D83-4DEB-A51D-D4182965BEE3}" srcOrd="8" destOrd="0" presId="urn:microsoft.com/office/officeart/2005/8/layout/default"/>
    <dgm:cxn modelId="{7345A53B-064F-4095-A905-854EB64AB47B}" type="presParOf" srcId="{AA802130-7E4D-44A2-8459-6C6CB2FFB310}" destId="{A2057436-B3CD-4CB9-9C83-21EA682D5164}" srcOrd="9" destOrd="0" presId="urn:microsoft.com/office/officeart/2005/8/layout/default"/>
    <dgm:cxn modelId="{99059C69-8DDA-40A1-9D2D-9C3F952AE5F1}" type="presParOf" srcId="{AA802130-7E4D-44A2-8459-6C6CB2FFB310}" destId="{6B730B49-49EB-49FA-80ED-106C9FB91F76}" srcOrd="10" destOrd="0" presId="urn:microsoft.com/office/officeart/2005/8/layout/default"/>
    <dgm:cxn modelId="{272AB50D-EE90-475E-8E10-085426B4568E}" type="presParOf" srcId="{AA802130-7E4D-44A2-8459-6C6CB2FFB310}" destId="{D291D09D-4207-47D9-873F-995FFBCA0821}" srcOrd="11" destOrd="0" presId="urn:microsoft.com/office/officeart/2005/8/layout/default"/>
    <dgm:cxn modelId="{BD961342-7BBE-4141-ACED-274CBC695381}" type="presParOf" srcId="{AA802130-7E4D-44A2-8459-6C6CB2FFB310}" destId="{DFEFA73D-FB17-4B11-84C7-E0652C4EB56B}" srcOrd="12" destOrd="0" presId="urn:microsoft.com/office/officeart/2005/8/layout/default"/>
    <dgm:cxn modelId="{0785EA51-D473-490E-8016-9DD83CFFFEFE}" type="presParOf" srcId="{AA802130-7E4D-44A2-8459-6C6CB2FFB310}" destId="{ECA16E84-94D3-46C6-8B7A-5EAD35C9E52A}" srcOrd="13" destOrd="0" presId="urn:microsoft.com/office/officeart/2005/8/layout/default"/>
    <dgm:cxn modelId="{D91D20CD-F487-4E3F-AEC2-7FEB055416D9}" type="presParOf" srcId="{AA802130-7E4D-44A2-8459-6C6CB2FFB310}" destId="{536A5B53-2CA4-4E41-8277-AC9F929CFC6A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7C40C96-F477-4528-904A-A8002FB91105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AFABA3A-05B0-4096-8BE7-9F2F930B7FB2}">
      <dgm:prSet/>
      <dgm:spPr/>
      <dgm:t>
        <a:bodyPr/>
        <a:lstStyle/>
        <a:p>
          <a:r>
            <a:rPr lang="tr-TR"/>
            <a:t>Prices downloaded from Yahoo Finance. Daily adjusted closing prices, 2021 – 2025. </a:t>
          </a:r>
          <a:endParaRPr lang="en-US"/>
        </a:p>
      </dgm:t>
    </dgm:pt>
    <dgm:pt modelId="{2D8D4874-7AAA-4559-A29A-03C29DB83A1B}" type="parTrans" cxnId="{237E615D-E231-41B3-87C9-326D2AF8E600}">
      <dgm:prSet/>
      <dgm:spPr/>
      <dgm:t>
        <a:bodyPr/>
        <a:lstStyle/>
        <a:p>
          <a:endParaRPr lang="en-US"/>
        </a:p>
      </dgm:t>
    </dgm:pt>
    <dgm:pt modelId="{96C4C875-512A-44CD-BE60-CB39C5D995E9}" type="sibTrans" cxnId="{237E615D-E231-41B3-87C9-326D2AF8E600}">
      <dgm:prSet phldrT="01" phldr="0"/>
      <dgm:spPr/>
      <dgm:t>
        <a:bodyPr/>
        <a:lstStyle/>
        <a:p>
          <a:endParaRPr lang="en-US"/>
        </a:p>
      </dgm:t>
    </dgm:pt>
    <dgm:pt modelId="{EB8FE6F2-C6DB-4E78-8322-C19DAABB9776}">
      <dgm:prSet/>
      <dgm:spPr/>
      <dgm:t>
        <a:bodyPr/>
        <a:lstStyle/>
        <a:p>
          <a:r>
            <a:rPr lang="tr-TR"/>
            <a:t>1-day lag on all decisions — weights are computed from yesterday's data and applied today. No look-ahead bias. </a:t>
          </a:r>
          <a:endParaRPr lang="en-US"/>
        </a:p>
      </dgm:t>
    </dgm:pt>
    <dgm:pt modelId="{9CB0A18F-410F-49DB-B88C-2325CD9337A1}" type="parTrans" cxnId="{50EE4A5B-3F03-4912-A120-1DB924C972AC}">
      <dgm:prSet/>
      <dgm:spPr/>
      <dgm:t>
        <a:bodyPr/>
        <a:lstStyle/>
        <a:p>
          <a:endParaRPr lang="en-US"/>
        </a:p>
      </dgm:t>
    </dgm:pt>
    <dgm:pt modelId="{15E44F1B-C5DB-405A-B90B-F88331FC5531}" type="sibTrans" cxnId="{50EE4A5B-3F03-4912-A120-1DB924C972AC}">
      <dgm:prSet phldrT="02" phldr="0"/>
      <dgm:spPr/>
      <dgm:t>
        <a:bodyPr/>
        <a:lstStyle/>
        <a:p>
          <a:endParaRPr lang="en-US"/>
        </a:p>
      </dgm:t>
    </dgm:pt>
    <dgm:pt modelId="{9BE04461-D92D-4B94-AA2A-E7E4712B051E}">
      <dgm:prSet/>
      <dgm:spPr/>
      <dgm:t>
        <a:bodyPr/>
        <a:lstStyle/>
        <a:p>
          <a:r>
            <a:rPr lang="tr-TR" i="0" baseline="0"/>
            <a:t>Benchmark is a simple equal-weighted 1/N portfolio, rebalanced daily. No parameters, no signal. </a:t>
          </a:r>
          <a:endParaRPr lang="en-US"/>
        </a:p>
      </dgm:t>
    </dgm:pt>
    <dgm:pt modelId="{94F5BB5F-BF33-42F6-A51A-EB1DFD11938E}" type="parTrans" cxnId="{DB8756A1-C74D-4FA2-A360-AB4C7B87059C}">
      <dgm:prSet/>
      <dgm:spPr/>
      <dgm:t>
        <a:bodyPr/>
        <a:lstStyle/>
        <a:p>
          <a:endParaRPr lang="en-US"/>
        </a:p>
      </dgm:t>
    </dgm:pt>
    <dgm:pt modelId="{74E5379A-708A-4B41-9644-7862B77DB1DA}" type="sibTrans" cxnId="{DB8756A1-C74D-4FA2-A360-AB4C7B87059C}">
      <dgm:prSet phldrT="03" phldr="0"/>
      <dgm:spPr/>
      <dgm:t>
        <a:bodyPr/>
        <a:lstStyle/>
        <a:p>
          <a:endParaRPr lang="en-US"/>
        </a:p>
      </dgm:t>
    </dgm:pt>
    <dgm:pt modelId="{30584132-0E26-4817-A361-6E087C96D5FF}">
      <dgm:prSet/>
      <dgm:spPr/>
      <dgm:t>
        <a:bodyPr/>
        <a:lstStyle/>
        <a:p>
          <a:r>
            <a:rPr lang="tr-TR" i="0" baseline="0" dirty="0" err="1"/>
            <a:t>We</a:t>
          </a:r>
          <a:r>
            <a:rPr lang="tr-TR" i="0" baseline="0" dirty="0"/>
            <a:t> ran a grid </a:t>
          </a:r>
          <a:r>
            <a:rPr lang="tr-TR" i="0" baseline="0" dirty="0" err="1"/>
            <a:t>search</a:t>
          </a:r>
          <a:r>
            <a:rPr lang="tr-TR" i="0" baseline="0" dirty="0"/>
            <a:t> </a:t>
          </a:r>
          <a:r>
            <a:rPr lang="tr-TR" i="0" baseline="0" dirty="0" err="1"/>
            <a:t>over</a:t>
          </a:r>
          <a:r>
            <a:rPr lang="tr-TR" i="0" baseline="0" dirty="0"/>
            <a:t> 486 </a:t>
          </a:r>
          <a:r>
            <a:rPr lang="tr-TR" i="0" baseline="0" dirty="0" err="1"/>
            <a:t>parameter</a:t>
          </a:r>
          <a:r>
            <a:rPr lang="tr-TR" i="0" baseline="0" dirty="0"/>
            <a:t> </a:t>
          </a:r>
          <a:r>
            <a:rPr lang="tr-TR" i="0" baseline="0" dirty="0" err="1"/>
            <a:t>combinations</a:t>
          </a:r>
          <a:r>
            <a:rPr lang="tr-TR" i="0" baseline="0" dirty="0"/>
            <a:t> </a:t>
          </a:r>
          <a:r>
            <a:rPr lang="tr-TR" i="0" baseline="0" dirty="0" err="1"/>
            <a:t>per</a:t>
          </a:r>
          <a:r>
            <a:rPr lang="tr-TR" i="0" baseline="0" dirty="0"/>
            <a:t> </a:t>
          </a:r>
          <a:r>
            <a:rPr lang="tr-TR" i="0" baseline="0" dirty="0" err="1"/>
            <a:t>period</a:t>
          </a:r>
          <a:r>
            <a:rPr lang="tr-TR" i="0" baseline="0" dirty="0"/>
            <a:t> </a:t>
          </a:r>
          <a:r>
            <a:rPr lang="tr-TR" i="0" baseline="0" dirty="0" err="1"/>
            <a:t>to</a:t>
          </a:r>
          <a:r>
            <a:rPr lang="tr-TR" i="0" baseline="0" dirty="0"/>
            <a:t> </a:t>
          </a:r>
          <a:r>
            <a:rPr lang="tr-TR" i="0" baseline="0" dirty="0" err="1"/>
            <a:t>find</a:t>
          </a:r>
          <a:r>
            <a:rPr lang="tr-TR" i="0" baseline="0" dirty="0"/>
            <a:t> </a:t>
          </a:r>
          <a:r>
            <a:rPr lang="tr-TR" i="0" baseline="0" dirty="0" err="1"/>
            <a:t>what</a:t>
          </a:r>
          <a:r>
            <a:rPr lang="tr-TR" i="0" baseline="0" dirty="0"/>
            <a:t> </a:t>
          </a:r>
          <a:r>
            <a:rPr lang="tr-TR" i="0" baseline="0" dirty="0" err="1"/>
            <a:t>works</a:t>
          </a:r>
          <a:r>
            <a:rPr lang="tr-TR" i="0" baseline="0" dirty="0"/>
            <a:t> </a:t>
          </a:r>
          <a:r>
            <a:rPr lang="tr-TR" i="0" baseline="0" dirty="0" err="1"/>
            <a:t>and</a:t>
          </a:r>
          <a:r>
            <a:rPr lang="tr-TR" i="0" baseline="0" dirty="0"/>
            <a:t> </a:t>
          </a:r>
          <a:r>
            <a:rPr lang="tr-TR" i="0" baseline="0" dirty="0" err="1"/>
            <a:t>what</a:t>
          </a:r>
          <a:r>
            <a:rPr lang="tr-TR" i="0" baseline="0" dirty="0"/>
            <a:t> doesn't. </a:t>
          </a:r>
          <a:endParaRPr lang="en-US" dirty="0"/>
        </a:p>
      </dgm:t>
    </dgm:pt>
    <dgm:pt modelId="{7E709E86-DC55-49E8-AD2D-3A990EBC2B38}" type="parTrans" cxnId="{53E4DCAE-2A69-42E1-A969-F0D327855764}">
      <dgm:prSet/>
      <dgm:spPr/>
      <dgm:t>
        <a:bodyPr/>
        <a:lstStyle/>
        <a:p>
          <a:endParaRPr lang="en-US"/>
        </a:p>
      </dgm:t>
    </dgm:pt>
    <dgm:pt modelId="{3D278B2B-55C9-4E19-8E36-52BDD85268CF}" type="sibTrans" cxnId="{53E4DCAE-2A69-42E1-A969-F0D327855764}">
      <dgm:prSet phldrT="04" phldr="0"/>
      <dgm:spPr/>
      <dgm:t>
        <a:bodyPr/>
        <a:lstStyle/>
        <a:p>
          <a:endParaRPr lang="en-US"/>
        </a:p>
      </dgm:t>
    </dgm:pt>
    <dgm:pt modelId="{B13B8B4A-0E1C-4AE5-BB7D-9D8CAFE32EDD}">
      <dgm:prSet/>
      <dgm:spPr/>
      <dgm:t>
        <a:bodyPr/>
        <a:lstStyle/>
        <a:p>
          <a:r>
            <a:rPr lang="tr-TR" i="0" baseline="0"/>
            <a:t>Metrics reported: cumulative return, annualised return, Sharpe ratio, maximum drawdown, Calmar ratio, average cash allocation. </a:t>
          </a:r>
          <a:endParaRPr lang="en-US"/>
        </a:p>
      </dgm:t>
    </dgm:pt>
    <dgm:pt modelId="{54AFEA9E-1C2B-478F-8343-E2782B37F7AF}" type="parTrans" cxnId="{50419202-7416-4374-861D-58CB235C87E3}">
      <dgm:prSet/>
      <dgm:spPr/>
      <dgm:t>
        <a:bodyPr/>
        <a:lstStyle/>
        <a:p>
          <a:endParaRPr lang="en-US"/>
        </a:p>
      </dgm:t>
    </dgm:pt>
    <dgm:pt modelId="{3220E39C-7201-44EF-92DD-14AFF9D9740F}" type="sibTrans" cxnId="{50419202-7416-4374-861D-58CB235C87E3}">
      <dgm:prSet phldrT="05" phldr="0"/>
      <dgm:spPr/>
      <dgm:t>
        <a:bodyPr/>
        <a:lstStyle/>
        <a:p>
          <a:endParaRPr lang="en-US"/>
        </a:p>
      </dgm:t>
    </dgm:pt>
    <dgm:pt modelId="{AC1C9BF4-AA06-4659-8C90-30421BCDD7B7}" type="pres">
      <dgm:prSet presAssocID="{D7C40C96-F477-4528-904A-A8002FB91105}" presName="vert0" presStyleCnt="0">
        <dgm:presLayoutVars>
          <dgm:dir/>
          <dgm:animOne val="branch"/>
          <dgm:animLvl val="lvl"/>
        </dgm:presLayoutVars>
      </dgm:prSet>
      <dgm:spPr/>
    </dgm:pt>
    <dgm:pt modelId="{6EE62B45-C26D-426F-AC8C-CE45E7EC6221}" type="pres">
      <dgm:prSet presAssocID="{9AFABA3A-05B0-4096-8BE7-9F2F930B7FB2}" presName="thickLine" presStyleLbl="alignNode1" presStyleIdx="0" presStyleCnt="5"/>
      <dgm:spPr/>
    </dgm:pt>
    <dgm:pt modelId="{E50F8AD9-E1E9-4744-9904-0418E2A0A2BB}" type="pres">
      <dgm:prSet presAssocID="{9AFABA3A-05B0-4096-8BE7-9F2F930B7FB2}" presName="horz1" presStyleCnt="0"/>
      <dgm:spPr/>
    </dgm:pt>
    <dgm:pt modelId="{F2729316-43EE-48AE-89C9-F3D519A718D8}" type="pres">
      <dgm:prSet presAssocID="{9AFABA3A-05B0-4096-8BE7-9F2F930B7FB2}" presName="tx1" presStyleLbl="revTx" presStyleIdx="0" presStyleCnt="5"/>
      <dgm:spPr/>
    </dgm:pt>
    <dgm:pt modelId="{C7577BC6-E7B0-4E09-9F67-9E9765AAC1D2}" type="pres">
      <dgm:prSet presAssocID="{9AFABA3A-05B0-4096-8BE7-9F2F930B7FB2}" presName="vert1" presStyleCnt="0"/>
      <dgm:spPr/>
    </dgm:pt>
    <dgm:pt modelId="{7CDEAEF4-7F36-4B16-BE47-7252BA58A09D}" type="pres">
      <dgm:prSet presAssocID="{EB8FE6F2-C6DB-4E78-8322-C19DAABB9776}" presName="thickLine" presStyleLbl="alignNode1" presStyleIdx="1" presStyleCnt="5"/>
      <dgm:spPr/>
    </dgm:pt>
    <dgm:pt modelId="{9AB5E285-93F1-47D3-9CF4-FC52F8BDB248}" type="pres">
      <dgm:prSet presAssocID="{EB8FE6F2-C6DB-4E78-8322-C19DAABB9776}" presName="horz1" presStyleCnt="0"/>
      <dgm:spPr/>
    </dgm:pt>
    <dgm:pt modelId="{D5ADDF4F-8668-46BB-AD38-08C9DD15B77B}" type="pres">
      <dgm:prSet presAssocID="{EB8FE6F2-C6DB-4E78-8322-C19DAABB9776}" presName="tx1" presStyleLbl="revTx" presStyleIdx="1" presStyleCnt="5"/>
      <dgm:spPr/>
    </dgm:pt>
    <dgm:pt modelId="{18B58958-9212-4F0B-AEF9-6FD45EA3B548}" type="pres">
      <dgm:prSet presAssocID="{EB8FE6F2-C6DB-4E78-8322-C19DAABB9776}" presName="vert1" presStyleCnt="0"/>
      <dgm:spPr/>
    </dgm:pt>
    <dgm:pt modelId="{AF6B60D7-18D4-4462-8888-F470C80DD0EE}" type="pres">
      <dgm:prSet presAssocID="{9BE04461-D92D-4B94-AA2A-E7E4712B051E}" presName="thickLine" presStyleLbl="alignNode1" presStyleIdx="2" presStyleCnt="5"/>
      <dgm:spPr/>
    </dgm:pt>
    <dgm:pt modelId="{C7A119EF-C040-4197-9051-9772C82D232B}" type="pres">
      <dgm:prSet presAssocID="{9BE04461-D92D-4B94-AA2A-E7E4712B051E}" presName="horz1" presStyleCnt="0"/>
      <dgm:spPr/>
    </dgm:pt>
    <dgm:pt modelId="{72338FDE-9373-4978-9644-23620463F701}" type="pres">
      <dgm:prSet presAssocID="{9BE04461-D92D-4B94-AA2A-E7E4712B051E}" presName="tx1" presStyleLbl="revTx" presStyleIdx="2" presStyleCnt="5"/>
      <dgm:spPr/>
    </dgm:pt>
    <dgm:pt modelId="{D68C6D82-CE21-4374-A1A7-3D16C4AE5416}" type="pres">
      <dgm:prSet presAssocID="{9BE04461-D92D-4B94-AA2A-E7E4712B051E}" presName="vert1" presStyleCnt="0"/>
      <dgm:spPr/>
    </dgm:pt>
    <dgm:pt modelId="{66931597-1C02-48B5-8FDE-4D3AE66F0E61}" type="pres">
      <dgm:prSet presAssocID="{30584132-0E26-4817-A361-6E087C96D5FF}" presName="thickLine" presStyleLbl="alignNode1" presStyleIdx="3" presStyleCnt="5"/>
      <dgm:spPr/>
    </dgm:pt>
    <dgm:pt modelId="{D2CD2047-0DAC-430E-977B-47296106B730}" type="pres">
      <dgm:prSet presAssocID="{30584132-0E26-4817-A361-6E087C96D5FF}" presName="horz1" presStyleCnt="0"/>
      <dgm:spPr/>
    </dgm:pt>
    <dgm:pt modelId="{FC2B1492-9978-475A-9C50-7AD9A6A9E5A7}" type="pres">
      <dgm:prSet presAssocID="{30584132-0E26-4817-A361-6E087C96D5FF}" presName="tx1" presStyleLbl="revTx" presStyleIdx="3" presStyleCnt="5"/>
      <dgm:spPr/>
    </dgm:pt>
    <dgm:pt modelId="{4B11B798-E40C-4558-A9FA-2E0D4B595054}" type="pres">
      <dgm:prSet presAssocID="{30584132-0E26-4817-A361-6E087C96D5FF}" presName="vert1" presStyleCnt="0"/>
      <dgm:spPr/>
    </dgm:pt>
    <dgm:pt modelId="{5E4DF231-4330-48B0-8FF2-CD1E243C4A56}" type="pres">
      <dgm:prSet presAssocID="{B13B8B4A-0E1C-4AE5-BB7D-9D8CAFE32EDD}" presName="thickLine" presStyleLbl="alignNode1" presStyleIdx="4" presStyleCnt="5"/>
      <dgm:spPr/>
    </dgm:pt>
    <dgm:pt modelId="{F1A4F7FD-F7FC-49CB-8BAC-9471076D118E}" type="pres">
      <dgm:prSet presAssocID="{B13B8B4A-0E1C-4AE5-BB7D-9D8CAFE32EDD}" presName="horz1" presStyleCnt="0"/>
      <dgm:spPr/>
    </dgm:pt>
    <dgm:pt modelId="{07AE7791-DDA0-4E8B-81E3-35B6E2A6C6B5}" type="pres">
      <dgm:prSet presAssocID="{B13B8B4A-0E1C-4AE5-BB7D-9D8CAFE32EDD}" presName="tx1" presStyleLbl="revTx" presStyleIdx="4" presStyleCnt="5"/>
      <dgm:spPr/>
    </dgm:pt>
    <dgm:pt modelId="{12F6AD8A-058B-4801-9850-27B8D55AD1DB}" type="pres">
      <dgm:prSet presAssocID="{B13B8B4A-0E1C-4AE5-BB7D-9D8CAFE32EDD}" presName="vert1" presStyleCnt="0"/>
      <dgm:spPr/>
    </dgm:pt>
  </dgm:ptLst>
  <dgm:cxnLst>
    <dgm:cxn modelId="{50419202-7416-4374-861D-58CB235C87E3}" srcId="{D7C40C96-F477-4528-904A-A8002FB91105}" destId="{B13B8B4A-0E1C-4AE5-BB7D-9D8CAFE32EDD}" srcOrd="4" destOrd="0" parTransId="{54AFEA9E-1C2B-478F-8343-E2782B37F7AF}" sibTransId="{3220E39C-7201-44EF-92DD-14AFF9D9740F}"/>
    <dgm:cxn modelId="{131E8614-36E2-4902-9D8C-32FE001AEF01}" type="presOf" srcId="{9AFABA3A-05B0-4096-8BE7-9F2F930B7FB2}" destId="{F2729316-43EE-48AE-89C9-F3D519A718D8}" srcOrd="0" destOrd="0" presId="urn:microsoft.com/office/officeart/2008/layout/LinedList"/>
    <dgm:cxn modelId="{2110C12D-77FF-4E72-810F-5B4DB1C28E43}" type="presOf" srcId="{B13B8B4A-0E1C-4AE5-BB7D-9D8CAFE32EDD}" destId="{07AE7791-DDA0-4E8B-81E3-35B6E2A6C6B5}" srcOrd="0" destOrd="0" presId="urn:microsoft.com/office/officeart/2008/layout/LinedList"/>
    <dgm:cxn modelId="{50EE4A5B-3F03-4912-A120-1DB924C972AC}" srcId="{D7C40C96-F477-4528-904A-A8002FB91105}" destId="{EB8FE6F2-C6DB-4E78-8322-C19DAABB9776}" srcOrd="1" destOrd="0" parTransId="{9CB0A18F-410F-49DB-B88C-2325CD9337A1}" sibTransId="{15E44F1B-C5DB-405A-B90B-F88331FC5531}"/>
    <dgm:cxn modelId="{237E615D-E231-41B3-87C9-326D2AF8E600}" srcId="{D7C40C96-F477-4528-904A-A8002FB91105}" destId="{9AFABA3A-05B0-4096-8BE7-9F2F930B7FB2}" srcOrd="0" destOrd="0" parTransId="{2D8D4874-7AAA-4559-A29A-03C29DB83A1B}" sibTransId="{96C4C875-512A-44CD-BE60-CB39C5D995E9}"/>
    <dgm:cxn modelId="{F3C4E146-3DFB-4E31-A47D-60685D5A060A}" type="presOf" srcId="{9BE04461-D92D-4B94-AA2A-E7E4712B051E}" destId="{72338FDE-9373-4978-9644-23620463F701}" srcOrd="0" destOrd="0" presId="urn:microsoft.com/office/officeart/2008/layout/LinedList"/>
    <dgm:cxn modelId="{2D8E3677-C9A9-43D1-BCCC-6A79192B6A8B}" type="presOf" srcId="{D7C40C96-F477-4528-904A-A8002FB91105}" destId="{AC1C9BF4-AA06-4659-8C90-30421BCDD7B7}" srcOrd="0" destOrd="0" presId="urn:microsoft.com/office/officeart/2008/layout/LinedList"/>
    <dgm:cxn modelId="{C9A5EA91-4E64-406B-AF3A-98CE74926143}" type="presOf" srcId="{30584132-0E26-4817-A361-6E087C96D5FF}" destId="{FC2B1492-9978-475A-9C50-7AD9A6A9E5A7}" srcOrd="0" destOrd="0" presId="urn:microsoft.com/office/officeart/2008/layout/LinedList"/>
    <dgm:cxn modelId="{DB8756A1-C74D-4FA2-A360-AB4C7B87059C}" srcId="{D7C40C96-F477-4528-904A-A8002FB91105}" destId="{9BE04461-D92D-4B94-AA2A-E7E4712B051E}" srcOrd="2" destOrd="0" parTransId="{94F5BB5F-BF33-42F6-A51A-EB1DFD11938E}" sibTransId="{74E5379A-708A-4B41-9644-7862B77DB1DA}"/>
    <dgm:cxn modelId="{53E4DCAE-2A69-42E1-A969-F0D327855764}" srcId="{D7C40C96-F477-4528-904A-A8002FB91105}" destId="{30584132-0E26-4817-A361-6E087C96D5FF}" srcOrd="3" destOrd="0" parTransId="{7E709E86-DC55-49E8-AD2D-3A990EBC2B38}" sibTransId="{3D278B2B-55C9-4E19-8E36-52BDD85268CF}"/>
    <dgm:cxn modelId="{CFDE1AC5-E404-4E28-9E2C-94164A67DE14}" type="presOf" srcId="{EB8FE6F2-C6DB-4E78-8322-C19DAABB9776}" destId="{D5ADDF4F-8668-46BB-AD38-08C9DD15B77B}" srcOrd="0" destOrd="0" presId="urn:microsoft.com/office/officeart/2008/layout/LinedList"/>
    <dgm:cxn modelId="{83EE423E-3EDD-4C89-8845-415BF62DA124}" type="presParOf" srcId="{AC1C9BF4-AA06-4659-8C90-30421BCDD7B7}" destId="{6EE62B45-C26D-426F-AC8C-CE45E7EC6221}" srcOrd="0" destOrd="0" presId="urn:microsoft.com/office/officeart/2008/layout/LinedList"/>
    <dgm:cxn modelId="{210035BF-F47B-4F71-869B-7B91C0795C70}" type="presParOf" srcId="{AC1C9BF4-AA06-4659-8C90-30421BCDD7B7}" destId="{E50F8AD9-E1E9-4744-9904-0418E2A0A2BB}" srcOrd="1" destOrd="0" presId="urn:microsoft.com/office/officeart/2008/layout/LinedList"/>
    <dgm:cxn modelId="{0738C121-7E4C-4E7B-B48F-2B927728B32E}" type="presParOf" srcId="{E50F8AD9-E1E9-4744-9904-0418E2A0A2BB}" destId="{F2729316-43EE-48AE-89C9-F3D519A718D8}" srcOrd="0" destOrd="0" presId="urn:microsoft.com/office/officeart/2008/layout/LinedList"/>
    <dgm:cxn modelId="{9946BF98-2949-4D25-A783-0E7DBF0ACA95}" type="presParOf" srcId="{E50F8AD9-E1E9-4744-9904-0418E2A0A2BB}" destId="{C7577BC6-E7B0-4E09-9F67-9E9765AAC1D2}" srcOrd="1" destOrd="0" presId="urn:microsoft.com/office/officeart/2008/layout/LinedList"/>
    <dgm:cxn modelId="{65B98C96-A857-4FE1-9BC3-639A965FB889}" type="presParOf" srcId="{AC1C9BF4-AA06-4659-8C90-30421BCDD7B7}" destId="{7CDEAEF4-7F36-4B16-BE47-7252BA58A09D}" srcOrd="2" destOrd="0" presId="urn:microsoft.com/office/officeart/2008/layout/LinedList"/>
    <dgm:cxn modelId="{300642EB-183D-4348-B7FA-6C093029963A}" type="presParOf" srcId="{AC1C9BF4-AA06-4659-8C90-30421BCDD7B7}" destId="{9AB5E285-93F1-47D3-9CF4-FC52F8BDB248}" srcOrd="3" destOrd="0" presId="urn:microsoft.com/office/officeart/2008/layout/LinedList"/>
    <dgm:cxn modelId="{8D1DAF54-9C27-46C0-A758-A58F6083DED5}" type="presParOf" srcId="{9AB5E285-93F1-47D3-9CF4-FC52F8BDB248}" destId="{D5ADDF4F-8668-46BB-AD38-08C9DD15B77B}" srcOrd="0" destOrd="0" presId="urn:microsoft.com/office/officeart/2008/layout/LinedList"/>
    <dgm:cxn modelId="{FF6A140C-0BE2-442C-B547-5C1BD5C763F2}" type="presParOf" srcId="{9AB5E285-93F1-47D3-9CF4-FC52F8BDB248}" destId="{18B58958-9212-4F0B-AEF9-6FD45EA3B548}" srcOrd="1" destOrd="0" presId="urn:microsoft.com/office/officeart/2008/layout/LinedList"/>
    <dgm:cxn modelId="{F3EE01B5-D860-4693-B46D-F2DB36562000}" type="presParOf" srcId="{AC1C9BF4-AA06-4659-8C90-30421BCDD7B7}" destId="{AF6B60D7-18D4-4462-8888-F470C80DD0EE}" srcOrd="4" destOrd="0" presId="urn:microsoft.com/office/officeart/2008/layout/LinedList"/>
    <dgm:cxn modelId="{90775F4F-27A9-48F7-A748-1EE956CB3F5D}" type="presParOf" srcId="{AC1C9BF4-AA06-4659-8C90-30421BCDD7B7}" destId="{C7A119EF-C040-4197-9051-9772C82D232B}" srcOrd="5" destOrd="0" presId="urn:microsoft.com/office/officeart/2008/layout/LinedList"/>
    <dgm:cxn modelId="{5CC3DFBD-A3F1-4D15-84FA-D30E645C63B0}" type="presParOf" srcId="{C7A119EF-C040-4197-9051-9772C82D232B}" destId="{72338FDE-9373-4978-9644-23620463F701}" srcOrd="0" destOrd="0" presId="urn:microsoft.com/office/officeart/2008/layout/LinedList"/>
    <dgm:cxn modelId="{1EF2FFE1-3A18-4546-8C71-4C38EB5C0ABB}" type="presParOf" srcId="{C7A119EF-C040-4197-9051-9772C82D232B}" destId="{D68C6D82-CE21-4374-A1A7-3D16C4AE5416}" srcOrd="1" destOrd="0" presId="urn:microsoft.com/office/officeart/2008/layout/LinedList"/>
    <dgm:cxn modelId="{4938B72B-A04C-4466-8BCC-56B22AB6DF64}" type="presParOf" srcId="{AC1C9BF4-AA06-4659-8C90-30421BCDD7B7}" destId="{66931597-1C02-48B5-8FDE-4D3AE66F0E61}" srcOrd="6" destOrd="0" presId="urn:microsoft.com/office/officeart/2008/layout/LinedList"/>
    <dgm:cxn modelId="{15329D82-AF8C-4AE6-9134-0DB05B06A8F3}" type="presParOf" srcId="{AC1C9BF4-AA06-4659-8C90-30421BCDD7B7}" destId="{D2CD2047-0DAC-430E-977B-47296106B730}" srcOrd="7" destOrd="0" presId="urn:microsoft.com/office/officeart/2008/layout/LinedList"/>
    <dgm:cxn modelId="{95D48DFF-114D-473D-A06D-5BCD859F2A4E}" type="presParOf" srcId="{D2CD2047-0DAC-430E-977B-47296106B730}" destId="{FC2B1492-9978-475A-9C50-7AD9A6A9E5A7}" srcOrd="0" destOrd="0" presId="urn:microsoft.com/office/officeart/2008/layout/LinedList"/>
    <dgm:cxn modelId="{AD91FECD-528B-4282-9DEB-73DDA1F3C1C3}" type="presParOf" srcId="{D2CD2047-0DAC-430E-977B-47296106B730}" destId="{4B11B798-E40C-4558-A9FA-2E0D4B595054}" srcOrd="1" destOrd="0" presId="urn:microsoft.com/office/officeart/2008/layout/LinedList"/>
    <dgm:cxn modelId="{9FEF2117-0FC3-4A3D-BE54-B201D9D54D43}" type="presParOf" srcId="{AC1C9BF4-AA06-4659-8C90-30421BCDD7B7}" destId="{5E4DF231-4330-48B0-8FF2-CD1E243C4A56}" srcOrd="8" destOrd="0" presId="urn:microsoft.com/office/officeart/2008/layout/LinedList"/>
    <dgm:cxn modelId="{621BF66C-EF2E-4B74-BEBB-1DCC57D4CD2A}" type="presParOf" srcId="{AC1C9BF4-AA06-4659-8C90-30421BCDD7B7}" destId="{F1A4F7FD-F7FC-49CB-8BAC-9471076D118E}" srcOrd="9" destOrd="0" presId="urn:microsoft.com/office/officeart/2008/layout/LinedList"/>
    <dgm:cxn modelId="{1B608F43-ADE1-45A8-9EF9-452D76520869}" type="presParOf" srcId="{F1A4F7FD-F7FC-49CB-8BAC-9471076D118E}" destId="{07AE7791-DDA0-4E8B-81E3-35B6E2A6C6B5}" srcOrd="0" destOrd="0" presId="urn:microsoft.com/office/officeart/2008/layout/LinedList"/>
    <dgm:cxn modelId="{C37F4852-5365-4EB0-A5DB-DA7146E236E5}" type="presParOf" srcId="{F1A4F7FD-F7FC-49CB-8BAC-9471076D118E}" destId="{12F6AD8A-058B-4801-9850-27B8D55AD1D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B7A144-BC4C-42E9-AD4A-8096F8A2BD2B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D72231F-959C-4FD2-AE73-1AFE6DE9252D}">
      <dgm:prSet/>
      <dgm:spPr/>
      <dgm:t>
        <a:bodyPr/>
        <a:lstStyle/>
        <a:p>
          <a:r>
            <a:rPr lang="tr-TR" b="1" i="0" baseline="0"/>
            <a:t>Lookback Days</a:t>
          </a:r>
          <a:r>
            <a:rPr lang="tr-TR" b="0" i="0" baseline="0"/>
            <a:t> — How many trading days the rolling mean and standard deviation are calculated over. Shorter = more sensitive to recent moves. [10,20,30]</a:t>
          </a:r>
          <a:endParaRPr lang="en-US"/>
        </a:p>
      </dgm:t>
    </dgm:pt>
    <dgm:pt modelId="{693876CF-3C44-47C6-8929-3CB56C08DB30}" type="parTrans" cxnId="{D5172B8B-F2CD-4A2B-8470-EDADEEFAD69F}">
      <dgm:prSet/>
      <dgm:spPr/>
      <dgm:t>
        <a:bodyPr/>
        <a:lstStyle/>
        <a:p>
          <a:endParaRPr lang="en-US"/>
        </a:p>
      </dgm:t>
    </dgm:pt>
    <dgm:pt modelId="{CCAC6E32-297B-4777-A85C-9335B38BA49B}" type="sibTrans" cxnId="{D5172B8B-F2CD-4A2B-8470-EDADEEFAD69F}">
      <dgm:prSet/>
      <dgm:spPr/>
      <dgm:t>
        <a:bodyPr/>
        <a:lstStyle/>
        <a:p>
          <a:endParaRPr lang="en-US"/>
        </a:p>
      </dgm:t>
    </dgm:pt>
    <dgm:pt modelId="{4FE08F5B-1E0D-4A25-89FD-461867721C1C}">
      <dgm:prSet/>
      <dgm:spPr/>
      <dgm:t>
        <a:bodyPr/>
        <a:lstStyle/>
        <a:p>
          <a:r>
            <a:rPr lang="tr-TR" b="1" i="0" baseline="0"/>
            <a:t>Estimation Window</a:t>
          </a:r>
          <a:r>
            <a:rPr lang="tr-TR" b="0" i="0" baseline="0"/>
            <a:t> — How many days of historical returns are used to estimate expected returns and the covariance matrix for Markowitz. </a:t>
          </a:r>
          <a:r>
            <a:rPr lang="tr-TR"/>
            <a:t>[30,60]</a:t>
          </a:r>
          <a:endParaRPr lang="en-US"/>
        </a:p>
      </dgm:t>
    </dgm:pt>
    <dgm:pt modelId="{9F89E9FC-3751-4D3D-ACDC-4245F312FEFA}" type="parTrans" cxnId="{3553D100-31DC-4B57-963F-6EEE8BFAF58D}">
      <dgm:prSet/>
      <dgm:spPr/>
      <dgm:t>
        <a:bodyPr/>
        <a:lstStyle/>
        <a:p>
          <a:endParaRPr lang="en-US"/>
        </a:p>
      </dgm:t>
    </dgm:pt>
    <dgm:pt modelId="{D07F829C-8ED1-492A-BFEE-490ADDDC8BDC}" type="sibTrans" cxnId="{3553D100-31DC-4B57-963F-6EEE8BFAF58D}">
      <dgm:prSet/>
      <dgm:spPr/>
      <dgm:t>
        <a:bodyPr/>
        <a:lstStyle/>
        <a:p>
          <a:endParaRPr lang="en-US"/>
        </a:p>
      </dgm:t>
    </dgm:pt>
    <dgm:pt modelId="{11BF26A3-F93D-4141-9CE2-FC25EF16E32E}">
      <dgm:prSet/>
      <dgm:spPr/>
      <dgm:t>
        <a:bodyPr/>
        <a:lstStyle/>
        <a:p>
          <a:r>
            <a:rPr lang="tr-TR" b="1" i="0" baseline="0" dirty="0" err="1"/>
            <a:t>Rebalance</a:t>
          </a:r>
          <a:r>
            <a:rPr lang="tr-TR" b="1" i="0" baseline="0" dirty="0"/>
            <a:t> </a:t>
          </a:r>
          <a:r>
            <a:rPr lang="tr-TR" b="1" i="0" baseline="0" dirty="0" err="1"/>
            <a:t>Frequency</a:t>
          </a:r>
          <a:r>
            <a:rPr lang="tr-TR" b="0" i="0" baseline="0" dirty="0"/>
            <a:t> — How </a:t>
          </a:r>
          <a:r>
            <a:rPr lang="tr-TR" b="0" i="0" baseline="0" dirty="0" err="1"/>
            <a:t>often</a:t>
          </a:r>
          <a:r>
            <a:rPr lang="tr-TR" b="0" i="0" baseline="0" dirty="0"/>
            <a:t> </a:t>
          </a:r>
          <a:r>
            <a:rPr lang="tr-TR" b="0" i="0" baseline="0" dirty="0" err="1"/>
            <a:t>the</a:t>
          </a:r>
          <a:r>
            <a:rPr lang="tr-TR" b="0" i="0" baseline="0" dirty="0"/>
            <a:t> </a:t>
          </a:r>
          <a:r>
            <a:rPr lang="tr-TR" b="0" i="0" baseline="0" dirty="0" err="1"/>
            <a:t>portfolio</a:t>
          </a:r>
          <a:r>
            <a:rPr lang="tr-TR" b="0" i="0" baseline="0" dirty="0"/>
            <a:t> </a:t>
          </a:r>
          <a:r>
            <a:rPr lang="tr-TR" b="0" i="0" baseline="0" dirty="0" err="1"/>
            <a:t>weights</a:t>
          </a:r>
          <a:r>
            <a:rPr lang="tr-TR" b="0" i="0" baseline="0" dirty="0"/>
            <a:t> </a:t>
          </a:r>
          <a:r>
            <a:rPr lang="tr-TR" b="0" i="0" baseline="0" dirty="0" err="1"/>
            <a:t>are</a:t>
          </a:r>
          <a:r>
            <a:rPr lang="tr-TR" b="0" i="0" baseline="0" dirty="0"/>
            <a:t> </a:t>
          </a:r>
          <a:r>
            <a:rPr lang="tr-TR" b="0" i="0" baseline="0" dirty="0" err="1"/>
            <a:t>recalculated</a:t>
          </a:r>
          <a:r>
            <a:rPr lang="tr-TR" b="0" i="0" baseline="0" dirty="0"/>
            <a:t> </a:t>
          </a:r>
          <a:r>
            <a:rPr lang="tr-TR" b="0" i="0" baseline="0" dirty="0" err="1"/>
            <a:t>and</a:t>
          </a:r>
          <a:r>
            <a:rPr lang="tr-TR" b="0" i="0" baseline="0" dirty="0"/>
            <a:t> </a:t>
          </a:r>
          <a:r>
            <a:rPr lang="tr-TR" b="0" i="0" baseline="0" dirty="0" err="1"/>
            <a:t>updated</a:t>
          </a:r>
          <a:r>
            <a:rPr lang="tr-TR" b="0" i="0" baseline="0" dirty="0"/>
            <a:t>. Daily </a:t>
          </a:r>
          <a:r>
            <a:rPr lang="tr-TR" b="0" i="0" baseline="0" dirty="0" err="1"/>
            <a:t>rebalancing</a:t>
          </a:r>
          <a:r>
            <a:rPr lang="tr-TR" b="0" i="0" baseline="0" dirty="0"/>
            <a:t> </a:t>
          </a:r>
          <a:r>
            <a:rPr lang="tr-TR" b="0" i="0" baseline="0" dirty="0" err="1"/>
            <a:t>captures</a:t>
          </a:r>
          <a:r>
            <a:rPr lang="tr-TR" b="0" i="0" baseline="0" dirty="0"/>
            <a:t> </a:t>
          </a:r>
          <a:r>
            <a:rPr lang="tr-TR" b="0" i="0" baseline="0" dirty="0" err="1"/>
            <a:t>signals</a:t>
          </a:r>
          <a:r>
            <a:rPr lang="tr-TR" b="0" i="0" baseline="0" dirty="0"/>
            <a:t> </a:t>
          </a:r>
          <a:r>
            <a:rPr lang="tr-TR" b="0" i="0" baseline="0" dirty="0" err="1"/>
            <a:t>faster</a:t>
          </a:r>
          <a:r>
            <a:rPr lang="tr-TR" b="0" i="0" baseline="0" dirty="0"/>
            <a:t> but </a:t>
          </a:r>
          <a:r>
            <a:rPr lang="tr-TR" b="0" i="0" baseline="0" dirty="0" err="1"/>
            <a:t>increases</a:t>
          </a:r>
          <a:r>
            <a:rPr lang="tr-TR" b="0" i="0" baseline="0" dirty="0"/>
            <a:t> </a:t>
          </a:r>
          <a:r>
            <a:rPr lang="tr-TR" b="0" i="0" baseline="0" dirty="0" err="1"/>
            <a:t>transaction</a:t>
          </a:r>
          <a:r>
            <a:rPr lang="tr-TR" b="0" i="0" baseline="0" dirty="0"/>
            <a:t> </a:t>
          </a:r>
          <a:r>
            <a:rPr lang="tr-TR" b="0" i="0" baseline="0" dirty="0" err="1"/>
            <a:t>activity</a:t>
          </a:r>
          <a:r>
            <a:rPr lang="tr-TR" b="0" i="0" baseline="0" dirty="0"/>
            <a:t>.[1, 5, 21]</a:t>
          </a:r>
          <a:endParaRPr lang="en-US" dirty="0"/>
        </a:p>
      </dgm:t>
    </dgm:pt>
    <dgm:pt modelId="{76066ECC-DDAD-4DC9-8C94-7C66C5C6EC85}" type="parTrans" cxnId="{BC792486-7EAD-47B1-BFD1-A831AA95A9E5}">
      <dgm:prSet/>
      <dgm:spPr/>
      <dgm:t>
        <a:bodyPr/>
        <a:lstStyle/>
        <a:p>
          <a:endParaRPr lang="en-US"/>
        </a:p>
      </dgm:t>
    </dgm:pt>
    <dgm:pt modelId="{0B7AC153-8675-4540-AED4-1122A4369AB2}" type="sibTrans" cxnId="{BC792486-7EAD-47B1-BFD1-A831AA95A9E5}">
      <dgm:prSet/>
      <dgm:spPr/>
      <dgm:t>
        <a:bodyPr/>
        <a:lstStyle/>
        <a:p>
          <a:endParaRPr lang="en-US"/>
        </a:p>
      </dgm:t>
    </dgm:pt>
    <dgm:pt modelId="{E051E201-1AF5-4712-8562-8B17CE2C4E47}">
      <dgm:prSet/>
      <dgm:spPr/>
      <dgm:t>
        <a:bodyPr/>
        <a:lstStyle/>
        <a:p>
          <a:r>
            <a:rPr lang="tr-TR" b="1" i="0" baseline="0"/>
            <a:t>Risk Aversion (λ)</a:t>
          </a:r>
          <a:r>
            <a:rPr lang="tr-TR" b="0" i="0" baseline="0"/>
            <a:t> — Controls the return / variance tradeoff in the optimiser. Higher values spread weight more evenly across assets; lower values concentrate on the highest expected return. [0.5, 1.0, 3.5]</a:t>
          </a:r>
          <a:endParaRPr lang="en-US"/>
        </a:p>
      </dgm:t>
    </dgm:pt>
    <dgm:pt modelId="{66758ED1-8D8B-40EB-A77B-0FDE78625CCE}" type="parTrans" cxnId="{60FC5C3A-C469-4AE0-AB62-8F4C5E055381}">
      <dgm:prSet/>
      <dgm:spPr/>
      <dgm:t>
        <a:bodyPr/>
        <a:lstStyle/>
        <a:p>
          <a:endParaRPr lang="en-US"/>
        </a:p>
      </dgm:t>
    </dgm:pt>
    <dgm:pt modelId="{5EF0DB7C-30E3-45D4-9B99-F05F17943CB6}" type="sibTrans" cxnId="{60FC5C3A-C469-4AE0-AB62-8F4C5E055381}">
      <dgm:prSet/>
      <dgm:spPr/>
      <dgm:t>
        <a:bodyPr/>
        <a:lstStyle/>
        <a:p>
          <a:endParaRPr lang="en-US"/>
        </a:p>
      </dgm:t>
    </dgm:pt>
    <dgm:pt modelId="{B103BB8F-D81D-4C9A-B346-A70E11B34449}">
      <dgm:prSet/>
      <dgm:spPr/>
      <dgm:t>
        <a:bodyPr/>
        <a:lstStyle/>
        <a:p>
          <a:r>
            <a:rPr lang="tr-TR" b="1" i="0" baseline="0"/>
            <a:t>Stop-Loss</a:t>
          </a:r>
          <a:r>
            <a:rPr lang="tr-TR" b="0" i="0" baseline="0"/>
            <a:t> — Maximum allowed drawdown from an asset's 20-day peak before it is exited. </a:t>
          </a:r>
          <a:r>
            <a:rPr lang="tr-TR"/>
            <a:t>[0.05, 0.1, 0.2]</a:t>
          </a:r>
          <a:endParaRPr lang="en-US"/>
        </a:p>
      </dgm:t>
    </dgm:pt>
    <dgm:pt modelId="{3F664FF7-F823-429E-B2B1-85E6FB860F89}" type="parTrans" cxnId="{7045776C-A8F3-4030-A033-70D3147AAC4E}">
      <dgm:prSet/>
      <dgm:spPr/>
      <dgm:t>
        <a:bodyPr/>
        <a:lstStyle/>
        <a:p>
          <a:endParaRPr lang="en-US"/>
        </a:p>
      </dgm:t>
    </dgm:pt>
    <dgm:pt modelId="{A264A654-6BAA-4AAA-B627-CB69A16816ED}" type="sibTrans" cxnId="{7045776C-A8F3-4030-A033-70D3147AAC4E}">
      <dgm:prSet/>
      <dgm:spPr/>
      <dgm:t>
        <a:bodyPr/>
        <a:lstStyle/>
        <a:p>
          <a:endParaRPr lang="en-US"/>
        </a:p>
      </dgm:t>
    </dgm:pt>
    <dgm:pt modelId="{D44AC8B2-972B-416C-887C-074170F66B80}">
      <dgm:prSet/>
      <dgm:spPr/>
      <dgm:t>
        <a:bodyPr/>
        <a:lstStyle/>
        <a:p>
          <a:r>
            <a:rPr lang="tr-TR" b="1" i="0" baseline="0"/>
            <a:t>Cooldown Days</a:t>
          </a:r>
          <a:r>
            <a:rPr lang="tr-TR" b="0" i="0" baseline="0"/>
            <a:t> — How many days an asset must wait before it can re-enter the portfolio after triggering a stop-loss. </a:t>
          </a:r>
          <a:r>
            <a:rPr lang="tr-TR"/>
            <a:t>[1, 5 ,10]</a:t>
          </a:r>
          <a:endParaRPr lang="en-US"/>
        </a:p>
      </dgm:t>
    </dgm:pt>
    <dgm:pt modelId="{6A0D1571-AC4F-48E1-9AF2-E814E270C146}" type="parTrans" cxnId="{1A4F72E4-2EEB-487F-A140-B52022C81453}">
      <dgm:prSet/>
      <dgm:spPr/>
      <dgm:t>
        <a:bodyPr/>
        <a:lstStyle/>
        <a:p>
          <a:endParaRPr lang="en-US"/>
        </a:p>
      </dgm:t>
    </dgm:pt>
    <dgm:pt modelId="{55DF90F4-4CC1-42A2-99A9-A1C7A602194F}" type="sibTrans" cxnId="{1A4F72E4-2EEB-487F-A140-B52022C81453}">
      <dgm:prSet/>
      <dgm:spPr/>
      <dgm:t>
        <a:bodyPr/>
        <a:lstStyle/>
        <a:p>
          <a:endParaRPr lang="en-US"/>
        </a:p>
      </dgm:t>
    </dgm:pt>
    <dgm:pt modelId="{CE7ABB78-25FF-407D-8AD6-0780D2E3B0E8}" type="pres">
      <dgm:prSet presAssocID="{A1B7A144-BC4C-42E9-AD4A-8096F8A2BD2B}" presName="diagram" presStyleCnt="0">
        <dgm:presLayoutVars>
          <dgm:dir/>
          <dgm:resizeHandles val="exact"/>
        </dgm:presLayoutVars>
      </dgm:prSet>
      <dgm:spPr/>
    </dgm:pt>
    <dgm:pt modelId="{094BF1AC-FCFF-476B-9166-5E8A51ABB215}" type="pres">
      <dgm:prSet presAssocID="{0D72231F-959C-4FD2-AE73-1AFE6DE9252D}" presName="node" presStyleLbl="node1" presStyleIdx="0" presStyleCnt="6">
        <dgm:presLayoutVars>
          <dgm:bulletEnabled val="1"/>
        </dgm:presLayoutVars>
      </dgm:prSet>
      <dgm:spPr/>
    </dgm:pt>
    <dgm:pt modelId="{89CBBDF8-1F54-4AF6-B5C1-726753A03FD2}" type="pres">
      <dgm:prSet presAssocID="{CCAC6E32-297B-4777-A85C-9335B38BA49B}" presName="sibTrans" presStyleCnt="0"/>
      <dgm:spPr/>
    </dgm:pt>
    <dgm:pt modelId="{CEB07E6B-24AA-4AB0-A7A2-23DA8786D9CF}" type="pres">
      <dgm:prSet presAssocID="{4FE08F5B-1E0D-4A25-89FD-461867721C1C}" presName="node" presStyleLbl="node1" presStyleIdx="1" presStyleCnt="6">
        <dgm:presLayoutVars>
          <dgm:bulletEnabled val="1"/>
        </dgm:presLayoutVars>
      </dgm:prSet>
      <dgm:spPr/>
    </dgm:pt>
    <dgm:pt modelId="{F5332A80-4A0C-4B23-86ED-B928875FB90B}" type="pres">
      <dgm:prSet presAssocID="{D07F829C-8ED1-492A-BFEE-490ADDDC8BDC}" presName="sibTrans" presStyleCnt="0"/>
      <dgm:spPr/>
    </dgm:pt>
    <dgm:pt modelId="{35F8A890-3C6A-40A0-9602-2D5D66CE54B4}" type="pres">
      <dgm:prSet presAssocID="{11BF26A3-F93D-4141-9CE2-FC25EF16E32E}" presName="node" presStyleLbl="node1" presStyleIdx="2" presStyleCnt="6">
        <dgm:presLayoutVars>
          <dgm:bulletEnabled val="1"/>
        </dgm:presLayoutVars>
      </dgm:prSet>
      <dgm:spPr/>
    </dgm:pt>
    <dgm:pt modelId="{A4E8393E-600E-44DD-B943-81173D0D5E2F}" type="pres">
      <dgm:prSet presAssocID="{0B7AC153-8675-4540-AED4-1122A4369AB2}" presName="sibTrans" presStyleCnt="0"/>
      <dgm:spPr/>
    </dgm:pt>
    <dgm:pt modelId="{44C567E7-9D82-49EF-BD4A-0A03BEF86A6D}" type="pres">
      <dgm:prSet presAssocID="{E051E201-1AF5-4712-8562-8B17CE2C4E47}" presName="node" presStyleLbl="node1" presStyleIdx="3" presStyleCnt="6">
        <dgm:presLayoutVars>
          <dgm:bulletEnabled val="1"/>
        </dgm:presLayoutVars>
      </dgm:prSet>
      <dgm:spPr/>
    </dgm:pt>
    <dgm:pt modelId="{AE9F6E89-423A-4409-9282-55055BC4E00B}" type="pres">
      <dgm:prSet presAssocID="{5EF0DB7C-30E3-45D4-9B99-F05F17943CB6}" presName="sibTrans" presStyleCnt="0"/>
      <dgm:spPr/>
    </dgm:pt>
    <dgm:pt modelId="{39AA1D7A-AFE0-4CB2-ABA1-1BDFBBC38C66}" type="pres">
      <dgm:prSet presAssocID="{B103BB8F-D81D-4C9A-B346-A70E11B34449}" presName="node" presStyleLbl="node1" presStyleIdx="4" presStyleCnt="6">
        <dgm:presLayoutVars>
          <dgm:bulletEnabled val="1"/>
        </dgm:presLayoutVars>
      </dgm:prSet>
      <dgm:spPr/>
    </dgm:pt>
    <dgm:pt modelId="{54A68079-5D5F-4BAE-BEDA-277625BAFBE2}" type="pres">
      <dgm:prSet presAssocID="{A264A654-6BAA-4AAA-B627-CB69A16816ED}" presName="sibTrans" presStyleCnt="0"/>
      <dgm:spPr/>
    </dgm:pt>
    <dgm:pt modelId="{89781D5D-BE4D-4544-894E-177E6F7C8EB9}" type="pres">
      <dgm:prSet presAssocID="{D44AC8B2-972B-416C-887C-074170F66B80}" presName="node" presStyleLbl="node1" presStyleIdx="5" presStyleCnt="6">
        <dgm:presLayoutVars>
          <dgm:bulletEnabled val="1"/>
        </dgm:presLayoutVars>
      </dgm:prSet>
      <dgm:spPr/>
    </dgm:pt>
  </dgm:ptLst>
  <dgm:cxnLst>
    <dgm:cxn modelId="{3553D100-31DC-4B57-963F-6EEE8BFAF58D}" srcId="{A1B7A144-BC4C-42E9-AD4A-8096F8A2BD2B}" destId="{4FE08F5B-1E0D-4A25-89FD-461867721C1C}" srcOrd="1" destOrd="0" parTransId="{9F89E9FC-3751-4D3D-ACDC-4245F312FEFA}" sibTransId="{D07F829C-8ED1-492A-BFEE-490ADDDC8BDC}"/>
    <dgm:cxn modelId="{74307E1A-4812-4C4E-84C1-42C89A50D0E2}" type="presOf" srcId="{4FE08F5B-1E0D-4A25-89FD-461867721C1C}" destId="{CEB07E6B-24AA-4AB0-A7A2-23DA8786D9CF}" srcOrd="0" destOrd="0" presId="urn:microsoft.com/office/officeart/2005/8/layout/default"/>
    <dgm:cxn modelId="{F7204C23-9885-4AA1-BB49-A87E8B183954}" type="presOf" srcId="{B103BB8F-D81D-4C9A-B346-A70E11B34449}" destId="{39AA1D7A-AFE0-4CB2-ABA1-1BDFBBC38C66}" srcOrd="0" destOrd="0" presId="urn:microsoft.com/office/officeart/2005/8/layout/default"/>
    <dgm:cxn modelId="{BCCD122E-6244-44E6-BC38-7EBB002A1023}" type="presOf" srcId="{11BF26A3-F93D-4141-9CE2-FC25EF16E32E}" destId="{35F8A890-3C6A-40A0-9602-2D5D66CE54B4}" srcOrd="0" destOrd="0" presId="urn:microsoft.com/office/officeart/2005/8/layout/default"/>
    <dgm:cxn modelId="{60FC5C3A-C469-4AE0-AB62-8F4C5E055381}" srcId="{A1B7A144-BC4C-42E9-AD4A-8096F8A2BD2B}" destId="{E051E201-1AF5-4712-8562-8B17CE2C4E47}" srcOrd="3" destOrd="0" parTransId="{66758ED1-8D8B-40EB-A77B-0FDE78625CCE}" sibTransId="{5EF0DB7C-30E3-45D4-9B99-F05F17943CB6}"/>
    <dgm:cxn modelId="{7045776C-A8F3-4030-A033-70D3147AAC4E}" srcId="{A1B7A144-BC4C-42E9-AD4A-8096F8A2BD2B}" destId="{B103BB8F-D81D-4C9A-B346-A70E11B34449}" srcOrd="4" destOrd="0" parTransId="{3F664FF7-F823-429E-B2B1-85E6FB860F89}" sibTransId="{A264A654-6BAA-4AAA-B627-CB69A16816ED}"/>
    <dgm:cxn modelId="{FE893080-D162-4121-A51A-53A33369C61C}" type="presOf" srcId="{A1B7A144-BC4C-42E9-AD4A-8096F8A2BD2B}" destId="{CE7ABB78-25FF-407D-8AD6-0780D2E3B0E8}" srcOrd="0" destOrd="0" presId="urn:microsoft.com/office/officeart/2005/8/layout/default"/>
    <dgm:cxn modelId="{BC792486-7EAD-47B1-BFD1-A831AA95A9E5}" srcId="{A1B7A144-BC4C-42E9-AD4A-8096F8A2BD2B}" destId="{11BF26A3-F93D-4141-9CE2-FC25EF16E32E}" srcOrd="2" destOrd="0" parTransId="{76066ECC-DDAD-4DC9-8C94-7C66C5C6EC85}" sibTransId="{0B7AC153-8675-4540-AED4-1122A4369AB2}"/>
    <dgm:cxn modelId="{D5172B8B-F2CD-4A2B-8470-EDADEEFAD69F}" srcId="{A1B7A144-BC4C-42E9-AD4A-8096F8A2BD2B}" destId="{0D72231F-959C-4FD2-AE73-1AFE6DE9252D}" srcOrd="0" destOrd="0" parTransId="{693876CF-3C44-47C6-8929-3CB56C08DB30}" sibTransId="{CCAC6E32-297B-4777-A85C-9335B38BA49B}"/>
    <dgm:cxn modelId="{11E5C898-9875-4CEB-AFFE-8ED720A238D2}" type="presOf" srcId="{E051E201-1AF5-4712-8562-8B17CE2C4E47}" destId="{44C567E7-9D82-49EF-BD4A-0A03BEF86A6D}" srcOrd="0" destOrd="0" presId="urn:microsoft.com/office/officeart/2005/8/layout/default"/>
    <dgm:cxn modelId="{5B6810B0-4BD5-4F22-84F0-4D7046BD8C0D}" type="presOf" srcId="{0D72231F-959C-4FD2-AE73-1AFE6DE9252D}" destId="{094BF1AC-FCFF-476B-9166-5E8A51ABB215}" srcOrd="0" destOrd="0" presId="urn:microsoft.com/office/officeart/2005/8/layout/default"/>
    <dgm:cxn modelId="{F595CFCB-7C4B-408A-97F2-6A9FAE36D511}" type="presOf" srcId="{D44AC8B2-972B-416C-887C-074170F66B80}" destId="{89781D5D-BE4D-4544-894E-177E6F7C8EB9}" srcOrd="0" destOrd="0" presId="urn:microsoft.com/office/officeart/2005/8/layout/default"/>
    <dgm:cxn modelId="{1A4F72E4-2EEB-487F-A140-B52022C81453}" srcId="{A1B7A144-BC4C-42E9-AD4A-8096F8A2BD2B}" destId="{D44AC8B2-972B-416C-887C-074170F66B80}" srcOrd="5" destOrd="0" parTransId="{6A0D1571-AC4F-48E1-9AF2-E814E270C146}" sibTransId="{55DF90F4-4CC1-42A2-99A9-A1C7A602194F}"/>
    <dgm:cxn modelId="{F4191040-C28F-4A70-8337-C08F4FF07324}" type="presParOf" srcId="{CE7ABB78-25FF-407D-8AD6-0780D2E3B0E8}" destId="{094BF1AC-FCFF-476B-9166-5E8A51ABB215}" srcOrd="0" destOrd="0" presId="urn:microsoft.com/office/officeart/2005/8/layout/default"/>
    <dgm:cxn modelId="{35B18CA6-C1D1-4FF4-ABC9-02C65A539CC9}" type="presParOf" srcId="{CE7ABB78-25FF-407D-8AD6-0780D2E3B0E8}" destId="{89CBBDF8-1F54-4AF6-B5C1-726753A03FD2}" srcOrd="1" destOrd="0" presId="urn:microsoft.com/office/officeart/2005/8/layout/default"/>
    <dgm:cxn modelId="{3A2F902E-6565-46C9-BBB5-4A404810E816}" type="presParOf" srcId="{CE7ABB78-25FF-407D-8AD6-0780D2E3B0E8}" destId="{CEB07E6B-24AA-4AB0-A7A2-23DA8786D9CF}" srcOrd="2" destOrd="0" presId="urn:microsoft.com/office/officeart/2005/8/layout/default"/>
    <dgm:cxn modelId="{9FE493A5-EC2C-49D7-8961-F448C6EDC4FC}" type="presParOf" srcId="{CE7ABB78-25FF-407D-8AD6-0780D2E3B0E8}" destId="{F5332A80-4A0C-4B23-86ED-B928875FB90B}" srcOrd="3" destOrd="0" presId="urn:microsoft.com/office/officeart/2005/8/layout/default"/>
    <dgm:cxn modelId="{B4187FB6-8701-45FC-91AD-2F22530E6EBE}" type="presParOf" srcId="{CE7ABB78-25FF-407D-8AD6-0780D2E3B0E8}" destId="{35F8A890-3C6A-40A0-9602-2D5D66CE54B4}" srcOrd="4" destOrd="0" presId="urn:microsoft.com/office/officeart/2005/8/layout/default"/>
    <dgm:cxn modelId="{D12D30CB-F1A5-4D39-B73F-3B997AEAC654}" type="presParOf" srcId="{CE7ABB78-25FF-407D-8AD6-0780D2E3B0E8}" destId="{A4E8393E-600E-44DD-B943-81173D0D5E2F}" srcOrd="5" destOrd="0" presId="urn:microsoft.com/office/officeart/2005/8/layout/default"/>
    <dgm:cxn modelId="{07E237AB-E440-4A17-8D31-927CEB2168AE}" type="presParOf" srcId="{CE7ABB78-25FF-407D-8AD6-0780D2E3B0E8}" destId="{44C567E7-9D82-49EF-BD4A-0A03BEF86A6D}" srcOrd="6" destOrd="0" presId="urn:microsoft.com/office/officeart/2005/8/layout/default"/>
    <dgm:cxn modelId="{F0A8A440-C5CC-47FF-B0CE-4A5C36E55654}" type="presParOf" srcId="{CE7ABB78-25FF-407D-8AD6-0780D2E3B0E8}" destId="{AE9F6E89-423A-4409-9282-55055BC4E00B}" srcOrd="7" destOrd="0" presId="urn:microsoft.com/office/officeart/2005/8/layout/default"/>
    <dgm:cxn modelId="{9A466F3C-EEAB-4035-8259-A22C8BA84E87}" type="presParOf" srcId="{CE7ABB78-25FF-407D-8AD6-0780D2E3B0E8}" destId="{39AA1D7A-AFE0-4CB2-ABA1-1BDFBBC38C66}" srcOrd="8" destOrd="0" presId="urn:microsoft.com/office/officeart/2005/8/layout/default"/>
    <dgm:cxn modelId="{767B977F-1595-46B9-8323-BA24DD84B605}" type="presParOf" srcId="{CE7ABB78-25FF-407D-8AD6-0780D2E3B0E8}" destId="{54A68079-5D5F-4BAE-BEDA-277625BAFBE2}" srcOrd="9" destOrd="0" presId="urn:microsoft.com/office/officeart/2005/8/layout/default"/>
    <dgm:cxn modelId="{3275B548-1D65-42A2-B5A0-0689872DE666}" type="presParOf" srcId="{CE7ABB78-25FF-407D-8AD6-0780D2E3B0E8}" destId="{89781D5D-BE4D-4544-894E-177E6F7C8EB9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1A54366-9E81-44DD-9101-74F4D2DB5F41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8366D97-4518-4D76-990A-2BA978A0EA92}">
      <dgm:prSet/>
      <dgm:spPr/>
      <dgm:t>
        <a:bodyPr/>
        <a:lstStyle/>
        <a:p>
          <a:r>
            <a:rPr lang="en-US" b="1" dirty="0"/>
            <a:t>CPER — Copper</a:t>
          </a:r>
          <a:r>
            <a:rPr lang="en-US" dirty="0"/>
            <a:t> Lookback 20d · Daily · λ=0.5 · SL 10%</a:t>
          </a:r>
          <a:endParaRPr lang="tr-TR" dirty="0"/>
        </a:p>
        <a:p>
          <a:r>
            <a:rPr lang="en-US" dirty="0"/>
            <a:t>Copper has been trending structurally with AI infrastructure demand. Mean reversion signals fire too often and are unreliable. Only viable inside a diversified portfolio, not as a standalone position.</a:t>
          </a:r>
        </a:p>
      </dgm:t>
    </dgm:pt>
    <dgm:pt modelId="{38629045-65E5-4BE4-BC48-749BB4E9EAA7}" type="parTrans" cxnId="{A949CFD3-C937-4877-980B-8560ACB74755}">
      <dgm:prSet/>
      <dgm:spPr/>
      <dgm:t>
        <a:bodyPr/>
        <a:lstStyle/>
        <a:p>
          <a:endParaRPr lang="en-US"/>
        </a:p>
      </dgm:t>
    </dgm:pt>
    <dgm:pt modelId="{6121DC4D-F5D8-4B92-817C-80D012FF0309}" type="sibTrans" cxnId="{A949CFD3-C937-4877-980B-8560ACB74755}">
      <dgm:prSet/>
      <dgm:spPr/>
      <dgm:t>
        <a:bodyPr/>
        <a:lstStyle/>
        <a:p>
          <a:endParaRPr lang="en-US"/>
        </a:p>
      </dgm:t>
    </dgm:pt>
    <dgm:pt modelId="{75F095FF-109F-4008-88AD-D0C77394BB9A}">
      <dgm:prSet/>
      <dgm:spPr/>
      <dgm:t>
        <a:bodyPr/>
        <a:lstStyle/>
        <a:p>
          <a:r>
            <a:rPr lang="en-US" b="1" dirty="0"/>
            <a:t>LIT — Lithium</a:t>
          </a:r>
          <a:r>
            <a:rPr lang="en-US" dirty="0"/>
            <a:t> Lookback 10-20d · Monthly · λ=1.0 · SL 10%</a:t>
          </a:r>
          <a:endParaRPr lang="tr-TR" dirty="0"/>
        </a:p>
        <a:p>
          <a:r>
            <a:rPr lang="tr-TR" dirty="0"/>
            <a:t> </a:t>
          </a:r>
          <a:r>
            <a:rPr lang="en-US" dirty="0"/>
            <a:t>The buy-and-hold benchmark lost 65% over five years. Monthly rebalancing combined with heavy cash allocation allowed the strategy to sidestep the worst of the drawdown.</a:t>
          </a:r>
        </a:p>
      </dgm:t>
    </dgm:pt>
    <dgm:pt modelId="{41D182BE-CCEF-414D-B48B-7AE94D5222AC}" type="parTrans" cxnId="{0A03C21C-C26A-46EA-86A2-BFE9290D6AE6}">
      <dgm:prSet/>
      <dgm:spPr/>
      <dgm:t>
        <a:bodyPr/>
        <a:lstStyle/>
        <a:p>
          <a:endParaRPr lang="en-US"/>
        </a:p>
      </dgm:t>
    </dgm:pt>
    <dgm:pt modelId="{49A9F1D8-DF5F-4EA2-A121-8B5EF4CB59B4}" type="sibTrans" cxnId="{0A03C21C-C26A-46EA-86A2-BFE9290D6AE6}">
      <dgm:prSet/>
      <dgm:spPr/>
      <dgm:t>
        <a:bodyPr/>
        <a:lstStyle/>
        <a:p>
          <a:endParaRPr lang="en-US"/>
        </a:p>
      </dgm:t>
    </dgm:pt>
    <dgm:pt modelId="{C0F39FF7-A4F4-427A-94AA-823767E024C5}">
      <dgm:prSet/>
      <dgm:spPr/>
      <dgm:t>
        <a:bodyPr/>
        <a:lstStyle/>
        <a:p>
          <a:r>
            <a:rPr lang="en-US" b="1" dirty="0"/>
            <a:t>PALL — Palladium</a:t>
          </a:r>
          <a:r>
            <a:rPr lang="en-US" dirty="0"/>
            <a:t> Lookback 20-30d · Monthly · λ=0.5 · SL 10%</a:t>
          </a:r>
          <a:endParaRPr lang="tr-TR" dirty="0"/>
        </a:p>
        <a:p>
          <a:r>
            <a:rPr lang="en-US" dirty="0"/>
            <a:t>The benchmark Sharpe was nearly zero. The strategy turned it into +0.82 by holding 74% cash during the 2022 crash and re-entering on the recovery.</a:t>
          </a:r>
        </a:p>
      </dgm:t>
    </dgm:pt>
    <dgm:pt modelId="{3C9B977D-2D93-43BC-9CE0-FE651C7C3D5E}" type="parTrans" cxnId="{10251AD0-63C2-4DAF-B4F2-2EF12F9430AA}">
      <dgm:prSet/>
      <dgm:spPr/>
      <dgm:t>
        <a:bodyPr/>
        <a:lstStyle/>
        <a:p>
          <a:endParaRPr lang="en-US"/>
        </a:p>
      </dgm:t>
    </dgm:pt>
    <dgm:pt modelId="{F62F565E-342A-43B3-8ED6-7FF246817F86}" type="sibTrans" cxnId="{10251AD0-63C2-4DAF-B4F2-2EF12F9430AA}">
      <dgm:prSet/>
      <dgm:spPr/>
      <dgm:t>
        <a:bodyPr/>
        <a:lstStyle/>
        <a:p>
          <a:endParaRPr lang="en-US"/>
        </a:p>
      </dgm:t>
    </dgm:pt>
    <dgm:pt modelId="{FD9169B9-483D-473C-A725-BE8F9DB5F05A}">
      <dgm:prSet/>
      <dgm:spPr/>
      <dgm:t>
        <a:bodyPr/>
        <a:lstStyle/>
        <a:p>
          <a:r>
            <a:rPr lang="en-US" b="1" dirty="0"/>
            <a:t>JJU — </a:t>
          </a:r>
          <a:r>
            <a:rPr lang="en-US" b="1" dirty="0" err="1"/>
            <a:t>Aluminium</a:t>
          </a:r>
          <a:r>
            <a:rPr lang="en-US" dirty="0"/>
            <a:t> Lookback 20d · Daily · λ=3.5 · SL 5% · Cooldown 10d</a:t>
          </a:r>
          <a:endParaRPr lang="tr-TR" dirty="0"/>
        </a:p>
        <a:p>
          <a:r>
            <a:rPr lang="tr-TR" dirty="0"/>
            <a:t> </a:t>
          </a:r>
          <a:r>
            <a:rPr lang="en-US" dirty="0"/>
            <a:t>The strongest result in the entire analysis — a +0.93 Sharpe gap over the benchmark. High risk aversion combined with a tight stop-loss produced the best risk-adjusted outcome of any single asset.</a:t>
          </a:r>
        </a:p>
      </dgm:t>
    </dgm:pt>
    <dgm:pt modelId="{FB347CC5-C3DE-472F-BDA4-5A6D2590FFAB}" type="parTrans" cxnId="{28078144-D4B7-4B01-9D1A-0E82EBBBCC5C}">
      <dgm:prSet/>
      <dgm:spPr/>
      <dgm:t>
        <a:bodyPr/>
        <a:lstStyle/>
        <a:p>
          <a:endParaRPr lang="en-US"/>
        </a:p>
      </dgm:t>
    </dgm:pt>
    <dgm:pt modelId="{437068F6-E6E7-47FA-B268-B78A6F75666C}" type="sibTrans" cxnId="{28078144-D4B7-4B01-9D1A-0E82EBBBCC5C}">
      <dgm:prSet/>
      <dgm:spPr/>
      <dgm:t>
        <a:bodyPr/>
        <a:lstStyle/>
        <a:p>
          <a:endParaRPr lang="en-US"/>
        </a:p>
      </dgm:t>
    </dgm:pt>
    <dgm:pt modelId="{274911A5-B545-4E57-B3AE-6E5AAC8CD198}">
      <dgm:prSet/>
      <dgm:spPr/>
      <dgm:t>
        <a:bodyPr/>
        <a:lstStyle/>
        <a:p>
          <a:r>
            <a:rPr lang="en-US" b="1" dirty="0"/>
            <a:t>GLD — Gold</a:t>
          </a:r>
          <a:r>
            <a:rPr lang="en-US" dirty="0"/>
            <a:t> Lookback 30d · Monthly · λ=0.5 · SL 20%</a:t>
          </a:r>
          <a:r>
            <a:rPr lang="tr-TR" dirty="0"/>
            <a:t>:</a:t>
          </a:r>
        </a:p>
        <a:p>
          <a:r>
            <a:rPr lang="en-US" dirty="0"/>
            <a:t>Gold's secular uptrend means the strategy stays invested most of the time. A longer lookback and a loose stop-loss prevent premature exits on temporary dips. Low maintenance, consistent returns.</a:t>
          </a:r>
        </a:p>
      </dgm:t>
    </dgm:pt>
    <dgm:pt modelId="{D2854A71-CC92-4C99-A40D-FCFA4C03A630}" type="parTrans" cxnId="{1AC3B2FE-37D9-439F-8D5E-4B3C89EA1D01}">
      <dgm:prSet/>
      <dgm:spPr/>
      <dgm:t>
        <a:bodyPr/>
        <a:lstStyle/>
        <a:p>
          <a:endParaRPr lang="en-US"/>
        </a:p>
      </dgm:t>
    </dgm:pt>
    <dgm:pt modelId="{E9A47502-4EB3-48FE-BFE6-CD907CA9D5D9}" type="sibTrans" cxnId="{1AC3B2FE-37D9-439F-8D5E-4B3C89EA1D01}">
      <dgm:prSet/>
      <dgm:spPr/>
      <dgm:t>
        <a:bodyPr/>
        <a:lstStyle/>
        <a:p>
          <a:endParaRPr lang="en-US"/>
        </a:p>
      </dgm:t>
    </dgm:pt>
    <dgm:pt modelId="{9712F50C-BE49-418C-BCAE-4490C2012546}">
      <dgm:prSet/>
      <dgm:spPr/>
      <dgm:t>
        <a:bodyPr/>
        <a:lstStyle/>
        <a:p>
          <a:r>
            <a:rPr lang="en-US" b="1" dirty="0"/>
            <a:t>JJN — Nickel</a:t>
          </a:r>
          <a:r>
            <a:rPr lang="en-US" dirty="0"/>
            <a:t> Lookback 20d · Daily · λ=1.0 · SL 5% · Cooldown 10d</a:t>
          </a:r>
          <a:endParaRPr lang="tr-TR" dirty="0"/>
        </a:p>
        <a:p>
          <a:r>
            <a:rPr lang="tr-TR" dirty="0"/>
            <a:t> </a:t>
          </a:r>
          <a:r>
            <a:rPr lang="en-US" dirty="0"/>
            <a:t>86% average cash across the 2021–2023 window. The benchmark lost 61% over the same period. The strategy avoided almost all of that by simply not being in the market when conditions were </a:t>
          </a:r>
          <a:r>
            <a:rPr lang="en-US" dirty="0" err="1"/>
            <a:t>unfavourable</a:t>
          </a:r>
          <a:r>
            <a:rPr lang="en-US" dirty="0"/>
            <a:t>.</a:t>
          </a:r>
        </a:p>
      </dgm:t>
    </dgm:pt>
    <dgm:pt modelId="{8C65C99D-B4FD-4F74-9405-47BFB85D813B}" type="parTrans" cxnId="{B39B83CD-49CF-4E5D-9046-821E81C47F9A}">
      <dgm:prSet/>
      <dgm:spPr/>
      <dgm:t>
        <a:bodyPr/>
        <a:lstStyle/>
        <a:p>
          <a:endParaRPr lang="en-US"/>
        </a:p>
      </dgm:t>
    </dgm:pt>
    <dgm:pt modelId="{DA318DEC-A02A-4D07-9E2C-4EF14D8B1094}" type="sibTrans" cxnId="{B39B83CD-49CF-4E5D-9046-821E81C47F9A}">
      <dgm:prSet/>
      <dgm:spPr/>
      <dgm:t>
        <a:bodyPr/>
        <a:lstStyle/>
        <a:p>
          <a:endParaRPr lang="en-US"/>
        </a:p>
      </dgm:t>
    </dgm:pt>
    <dgm:pt modelId="{8107BB4B-CE2D-411E-9A2B-132492D91304}" type="pres">
      <dgm:prSet presAssocID="{01A54366-9E81-44DD-9101-74F4D2DB5F41}" presName="diagram" presStyleCnt="0">
        <dgm:presLayoutVars>
          <dgm:dir/>
          <dgm:resizeHandles val="exact"/>
        </dgm:presLayoutVars>
      </dgm:prSet>
      <dgm:spPr/>
    </dgm:pt>
    <dgm:pt modelId="{2B9CBE27-2492-493B-9138-D985CF649877}" type="pres">
      <dgm:prSet presAssocID="{48366D97-4518-4D76-990A-2BA978A0EA92}" presName="node" presStyleLbl="node1" presStyleIdx="0" presStyleCnt="6">
        <dgm:presLayoutVars>
          <dgm:bulletEnabled val="1"/>
        </dgm:presLayoutVars>
      </dgm:prSet>
      <dgm:spPr/>
    </dgm:pt>
    <dgm:pt modelId="{F1A6E0D8-3770-4EB2-8F15-3E6AEE6B10F4}" type="pres">
      <dgm:prSet presAssocID="{6121DC4D-F5D8-4B92-817C-80D012FF0309}" presName="sibTrans" presStyleCnt="0"/>
      <dgm:spPr/>
    </dgm:pt>
    <dgm:pt modelId="{367BE64D-4AF9-4A06-A6AC-C62D811D4086}" type="pres">
      <dgm:prSet presAssocID="{75F095FF-109F-4008-88AD-D0C77394BB9A}" presName="node" presStyleLbl="node1" presStyleIdx="1" presStyleCnt="6">
        <dgm:presLayoutVars>
          <dgm:bulletEnabled val="1"/>
        </dgm:presLayoutVars>
      </dgm:prSet>
      <dgm:spPr/>
    </dgm:pt>
    <dgm:pt modelId="{227FCDD8-6349-471A-A41B-82E2865BEBCA}" type="pres">
      <dgm:prSet presAssocID="{49A9F1D8-DF5F-4EA2-A121-8B5EF4CB59B4}" presName="sibTrans" presStyleCnt="0"/>
      <dgm:spPr/>
    </dgm:pt>
    <dgm:pt modelId="{8657455F-0E2D-418B-BA63-DF226144A792}" type="pres">
      <dgm:prSet presAssocID="{C0F39FF7-A4F4-427A-94AA-823767E024C5}" presName="node" presStyleLbl="node1" presStyleIdx="2" presStyleCnt="6">
        <dgm:presLayoutVars>
          <dgm:bulletEnabled val="1"/>
        </dgm:presLayoutVars>
      </dgm:prSet>
      <dgm:spPr/>
    </dgm:pt>
    <dgm:pt modelId="{AC251FB7-91D9-4718-ACA1-ECF7F48E4104}" type="pres">
      <dgm:prSet presAssocID="{F62F565E-342A-43B3-8ED6-7FF246817F86}" presName="sibTrans" presStyleCnt="0"/>
      <dgm:spPr/>
    </dgm:pt>
    <dgm:pt modelId="{0A4F1639-32C0-40DA-ABDD-76504B74325F}" type="pres">
      <dgm:prSet presAssocID="{FD9169B9-483D-473C-A725-BE8F9DB5F05A}" presName="node" presStyleLbl="node1" presStyleIdx="3" presStyleCnt="6">
        <dgm:presLayoutVars>
          <dgm:bulletEnabled val="1"/>
        </dgm:presLayoutVars>
      </dgm:prSet>
      <dgm:spPr/>
    </dgm:pt>
    <dgm:pt modelId="{724030BB-3AD1-40F4-9F4E-103E4B162A2F}" type="pres">
      <dgm:prSet presAssocID="{437068F6-E6E7-47FA-B268-B78A6F75666C}" presName="sibTrans" presStyleCnt="0"/>
      <dgm:spPr/>
    </dgm:pt>
    <dgm:pt modelId="{2CDF5525-7237-4F72-ADB6-AF6B36E949A7}" type="pres">
      <dgm:prSet presAssocID="{274911A5-B545-4E57-B3AE-6E5AAC8CD198}" presName="node" presStyleLbl="node1" presStyleIdx="4" presStyleCnt="6">
        <dgm:presLayoutVars>
          <dgm:bulletEnabled val="1"/>
        </dgm:presLayoutVars>
      </dgm:prSet>
      <dgm:spPr/>
    </dgm:pt>
    <dgm:pt modelId="{14A4F96D-9AA4-419A-8679-1D56BC14FAAD}" type="pres">
      <dgm:prSet presAssocID="{E9A47502-4EB3-48FE-BFE6-CD907CA9D5D9}" presName="sibTrans" presStyleCnt="0"/>
      <dgm:spPr/>
    </dgm:pt>
    <dgm:pt modelId="{63FC2E7E-8252-44F7-8372-F902CA25F798}" type="pres">
      <dgm:prSet presAssocID="{9712F50C-BE49-418C-BCAE-4490C2012546}" presName="node" presStyleLbl="node1" presStyleIdx="5" presStyleCnt="6">
        <dgm:presLayoutVars>
          <dgm:bulletEnabled val="1"/>
        </dgm:presLayoutVars>
      </dgm:prSet>
      <dgm:spPr/>
    </dgm:pt>
  </dgm:ptLst>
  <dgm:cxnLst>
    <dgm:cxn modelId="{098DCC15-CAB8-444B-9F52-7167E6D17926}" type="presOf" srcId="{274911A5-B545-4E57-B3AE-6E5AAC8CD198}" destId="{2CDF5525-7237-4F72-ADB6-AF6B36E949A7}" srcOrd="0" destOrd="0" presId="urn:microsoft.com/office/officeart/2005/8/layout/default"/>
    <dgm:cxn modelId="{5649A518-6AEC-4AA7-BB00-5A5F199732B9}" type="presOf" srcId="{75F095FF-109F-4008-88AD-D0C77394BB9A}" destId="{367BE64D-4AF9-4A06-A6AC-C62D811D4086}" srcOrd="0" destOrd="0" presId="urn:microsoft.com/office/officeart/2005/8/layout/default"/>
    <dgm:cxn modelId="{0A03C21C-C26A-46EA-86A2-BFE9290D6AE6}" srcId="{01A54366-9E81-44DD-9101-74F4D2DB5F41}" destId="{75F095FF-109F-4008-88AD-D0C77394BB9A}" srcOrd="1" destOrd="0" parTransId="{41D182BE-CCEF-414D-B48B-7AE94D5222AC}" sibTransId="{49A9F1D8-DF5F-4EA2-A121-8B5EF4CB59B4}"/>
    <dgm:cxn modelId="{28078144-D4B7-4B01-9D1A-0E82EBBBCC5C}" srcId="{01A54366-9E81-44DD-9101-74F4D2DB5F41}" destId="{FD9169B9-483D-473C-A725-BE8F9DB5F05A}" srcOrd="3" destOrd="0" parTransId="{FB347CC5-C3DE-472F-BDA4-5A6D2590FFAB}" sibTransId="{437068F6-E6E7-47FA-B268-B78A6F75666C}"/>
    <dgm:cxn modelId="{1A989094-72C0-478A-A7A1-1846E16A8ED3}" type="presOf" srcId="{FD9169B9-483D-473C-A725-BE8F9DB5F05A}" destId="{0A4F1639-32C0-40DA-ABDD-76504B74325F}" srcOrd="0" destOrd="0" presId="urn:microsoft.com/office/officeart/2005/8/layout/default"/>
    <dgm:cxn modelId="{5E5F439E-8516-4C1E-8C83-D81276372414}" type="presOf" srcId="{9712F50C-BE49-418C-BCAE-4490C2012546}" destId="{63FC2E7E-8252-44F7-8372-F902CA25F798}" srcOrd="0" destOrd="0" presId="urn:microsoft.com/office/officeart/2005/8/layout/default"/>
    <dgm:cxn modelId="{721368B9-8195-4CA4-A40A-696FBE61FDCB}" type="presOf" srcId="{01A54366-9E81-44DD-9101-74F4D2DB5F41}" destId="{8107BB4B-CE2D-411E-9A2B-132492D91304}" srcOrd="0" destOrd="0" presId="urn:microsoft.com/office/officeart/2005/8/layout/default"/>
    <dgm:cxn modelId="{B39B83CD-49CF-4E5D-9046-821E81C47F9A}" srcId="{01A54366-9E81-44DD-9101-74F4D2DB5F41}" destId="{9712F50C-BE49-418C-BCAE-4490C2012546}" srcOrd="5" destOrd="0" parTransId="{8C65C99D-B4FD-4F74-9405-47BFB85D813B}" sibTransId="{DA318DEC-A02A-4D07-9E2C-4EF14D8B1094}"/>
    <dgm:cxn modelId="{10251AD0-63C2-4DAF-B4F2-2EF12F9430AA}" srcId="{01A54366-9E81-44DD-9101-74F4D2DB5F41}" destId="{C0F39FF7-A4F4-427A-94AA-823767E024C5}" srcOrd="2" destOrd="0" parTransId="{3C9B977D-2D93-43BC-9CE0-FE651C7C3D5E}" sibTransId="{F62F565E-342A-43B3-8ED6-7FF246817F86}"/>
    <dgm:cxn modelId="{A949CFD3-C937-4877-980B-8560ACB74755}" srcId="{01A54366-9E81-44DD-9101-74F4D2DB5F41}" destId="{48366D97-4518-4D76-990A-2BA978A0EA92}" srcOrd="0" destOrd="0" parTransId="{38629045-65E5-4BE4-BC48-749BB4E9EAA7}" sibTransId="{6121DC4D-F5D8-4B92-817C-80D012FF0309}"/>
    <dgm:cxn modelId="{0AA2FBD9-00E3-4E75-86ED-60B651393654}" type="presOf" srcId="{C0F39FF7-A4F4-427A-94AA-823767E024C5}" destId="{8657455F-0E2D-418B-BA63-DF226144A792}" srcOrd="0" destOrd="0" presId="urn:microsoft.com/office/officeart/2005/8/layout/default"/>
    <dgm:cxn modelId="{9DA41FF1-AEC7-4659-8100-EA125FBC60EB}" type="presOf" srcId="{48366D97-4518-4D76-990A-2BA978A0EA92}" destId="{2B9CBE27-2492-493B-9138-D985CF649877}" srcOrd="0" destOrd="0" presId="urn:microsoft.com/office/officeart/2005/8/layout/default"/>
    <dgm:cxn modelId="{1AC3B2FE-37D9-439F-8D5E-4B3C89EA1D01}" srcId="{01A54366-9E81-44DD-9101-74F4D2DB5F41}" destId="{274911A5-B545-4E57-B3AE-6E5AAC8CD198}" srcOrd="4" destOrd="0" parTransId="{D2854A71-CC92-4C99-A40D-FCFA4C03A630}" sibTransId="{E9A47502-4EB3-48FE-BFE6-CD907CA9D5D9}"/>
    <dgm:cxn modelId="{2C386633-506E-4DDC-9A13-AF07EF3BB923}" type="presParOf" srcId="{8107BB4B-CE2D-411E-9A2B-132492D91304}" destId="{2B9CBE27-2492-493B-9138-D985CF649877}" srcOrd="0" destOrd="0" presId="urn:microsoft.com/office/officeart/2005/8/layout/default"/>
    <dgm:cxn modelId="{F80A6A1B-2A5F-409C-92A1-E790D794A62D}" type="presParOf" srcId="{8107BB4B-CE2D-411E-9A2B-132492D91304}" destId="{F1A6E0D8-3770-4EB2-8F15-3E6AEE6B10F4}" srcOrd="1" destOrd="0" presId="urn:microsoft.com/office/officeart/2005/8/layout/default"/>
    <dgm:cxn modelId="{FDB901F3-BAA1-4DA6-901C-41931F76B9E9}" type="presParOf" srcId="{8107BB4B-CE2D-411E-9A2B-132492D91304}" destId="{367BE64D-4AF9-4A06-A6AC-C62D811D4086}" srcOrd="2" destOrd="0" presId="urn:microsoft.com/office/officeart/2005/8/layout/default"/>
    <dgm:cxn modelId="{B09E4CDA-11D5-4300-A05D-FBAEFB96C11F}" type="presParOf" srcId="{8107BB4B-CE2D-411E-9A2B-132492D91304}" destId="{227FCDD8-6349-471A-A41B-82E2865BEBCA}" srcOrd="3" destOrd="0" presId="urn:microsoft.com/office/officeart/2005/8/layout/default"/>
    <dgm:cxn modelId="{56EC1E42-F4CA-4CD5-B0AB-086AD0ABB2FE}" type="presParOf" srcId="{8107BB4B-CE2D-411E-9A2B-132492D91304}" destId="{8657455F-0E2D-418B-BA63-DF226144A792}" srcOrd="4" destOrd="0" presId="urn:microsoft.com/office/officeart/2005/8/layout/default"/>
    <dgm:cxn modelId="{1B372520-16A7-42E4-A660-3B0424EF2EEB}" type="presParOf" srcId="{8107BB4B-CE2D-411E-9A2B-132492D91304}" destId="{AC251FB7-91D9-4718-ACA1-ECF7F48E4104}" srcOrd="5" destOrd="0" presId="urn:microsoft.com/office/officeart/2005/8/layout/default"/>
    <dgm:cxn modelId="{225E46AB-9BE1-4F0C-AA06-76B54FA115FA}" type="presParOf" srcId="{8107BB4B-CE2D-411E-9A2B-132492D91304}" destId="{0A4F1639-32C0-40DA-ABDD-76504B74325F}" srcOrd="6" destOrd="0" presId="urn:microsoft.com/office/officeart/2005/8/layout/default"/>
    <dgm:cxn modelId="{F6CA30B2-10A5-48C7-A11E-E0207EA1C912}" type="presParOf" srcId="{8107BB4B-CE2D-411E-9A2B-132492D91304}" destId="{724030BB-3AD1-40F4-9F4E-103E4B162A2F}" srcOrd="7" destOrd="0" presId="urn:microsoft.com/office/officeart/2005/8/layout/default"/>
    <dgm:cxn modelId="{2AC8E459-630C-48CA-86F4-28556D7EB7F7}" type="presParOf" srcId="{8107BB4B-CE2D-411E-9A2B-132492D91304}" destId="{2CDF5525-7237-4F72-ADB6-AF6B36E949A7}" srcOrd="8" destOrd="0" presId="urn:microsoft.com/office/officeart/2005/8/layout/default"/>
    <dgm:cxn modelId="{896A4B65-829F-49B9-8555-E925424018CB}" type="presParOf" srcId="{8107BB4B-CE2D-411E-9A2B-132492D91304}" destId="{14A4F96D-9AA4-419A-8679-1D56BC14FAAD}" srcOrd="9" destOrd="0" presId="urn:microsoft.com/office/officeart/2005/8/layout/default"/>
    <dgm:cxn modelId="{75ED10ED-A97B-4A81-889F-72225CEF690B}" type="presParOf" srcId="{8107BB4B-CE2D-411E-9A2B-132492D91304}" destId="{63FC2E7E-8252-44F7-8372-F902CA25F79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D9EA0-6F91-4A08-82D6-ABCA419E97C0}">
      <dsp:nvSpPr>
        <dsp:cNvPr id="0" name=""/>
        <dsp:cNvSpPr/>
      </dsp:nvSpPr>
      <dsp:spPr>
        <a:xfrm>
          <a:off x="3249" y="314358"/>
          <a:ext cx="2577622" cy="15465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CPER</a:t>
          </a:r>
          <a:r>
            <a:rPr lang="tr-TR" sz="2200" b="1" kern="1200" dirty="0"/>
            <a:t>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US Copper Index Fund</a:t>
          </a:r>
        </a:p>
      </dsp:txBody>
      <dsp:txXfrm>
        <a:off x="3249" y="314358"/>
        <a:ext cx="2577622" cy="1546573"/>
      </dsp:txXfrm>
    </dsp:sp>
    <dsp:sp modelId="{50E4393B-9008-4E52-A8B6-557AF80EA151}">
      <dsp:nvSpPr>
        <dsp:cNvPr id="0" name=""/>
        <dsp:cNvSpPr/>
      </dsp:nvSpPr>
      <dsp:spPr>
        <a:xfrm>
          <a:off x="2838633" y="314358"/>
          <a:ext cx="2577622" cy="15465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b="1" kern="1200" dirty="0"/>
            <a:t>LIT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Global X Lithium &amp; Battery</a:t>
          </a:r>
        </a:p>
      </dsp:txBody>
      <dsp:txXfrm>
        <a:off x="2838633" y="314358"/>
        <a:ext cx="2577622" cy="1546573"/>
      </dsp:txXfrm>
    </dsp:sp>
    <dsp:sp modelId="{869FAC6B-1021-45DE-B166-B579121AFF62}">
      <dsp:nvSpPr>
        <dsp:cNvPr id="0" name=""/>
        <dsp:cNvSpPr/>
      </dsp:nvSpPr>
      <dsp:spPr>
        <a:xfrm>
          <a:off x="5674018" y="314358"/>
          <a:ext cx="2577622" cy="15465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b="1" kern="1200" dirty="0"/>
            <a:t>JIN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Bloomberg Nickel ETN</a:t>
          </a:r>
        </a:p>
      </dsp:txBody>
      <dsp:txXfrm>
        <a:off x="5674018" y="314358"/>
        <a:ext cx="2577622" cy="1546573"/>
      </dsp:txXfrm>
    </dsp:sp>
    <dsp:sp modelId="{3BCC43D9-4562-479B-97FE-59E5D1FD4ADF}">
      <dsp:nvSpPr>
        <dsp:cNvPr id="0" name=""/>
        <dsp:cNvSpPr/>
      </dsp:nvSpPr>
      <dsp:spPr>
        <a:xfrm>
          <a:off x="8509402" y="314358"/>
          <a:ext cx="2577622" cy="15465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b="1" kern="1200" dirty="0"/>
            <a:t>JJU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Bloomberg </a:t>
          </a:r>
          <a:r>
            <a:rPr lang="en-US" sz="1600" b="0" kern="1200" dirty="0" err="1"/>
            <a:t>Aluminium</a:t>
          </a:r>
          <a:r>
            <a:rPr lang="en-US" sz="1600" b="0" kern="1200" dirty="0"/>
            <a:t> ETN</a:t>
          </a:r>
        </a:p>
      </dsp:txBody>
      <dsp:txXfrm>
        <a:off x="8509402" y="314358"/>
        <a:ext cx="2577622" cy="1546573"/>
      </dsp:txXfrm>
    </dsp:sp>
    <dsp:sp modelId="{360E8187-5D83-4DEB-A51D-D4182965BEE3}">
      <dsp:nvSpPr>
        <dsp:cNvPr id="0" name=""/>
        <dsp:cNvSpPr/>
      </dsp:nvSpPr>
      <dsp:spPr>
        <a:xfrm>
          <a:off x="3249" y="2118693"/>
          <a:ext cx="2577622" cy="15465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b="1" kern="1200" dirty="0"/>
            <a:t>SLV 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iShares Silver Trust</a:t>
          </a:r>
        </a:p>
      </dsp:txBody>
      <dsp:txXfrm>
        <a:off x="3249" y="2118693"/>
        <a:ext cx="2577622" cy="1546573"/>
      </dsp:txXfrm>
    </dsp:sp>
    <dsp:sp modelId="{6B730B49-49EB-49FA-80ED-106C9FB91F76}">
      <dsp:nvSpPr>
        <dsp:cNvPr id="0" name=""/>
        <dsp:cNvSpPr/>
      </dsp:nvSpPr>
      <dsp:spPr>
        <a:xfrm>
          <a:off x="2838633" y="2118693"/>
          <a:ext cx="2577622" cy="15465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300" b="1" kern="1200" dirty="0"/>
            <a:t>PPLT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Aberdeen Physical Platinum</a:t>
          </a:r>
          <a:endParaRPr lang="en-US" sz="2300" kern="1200" dirty="0"/>
        </a:p>
      </dsp:txBody>
      <dsp:txXfrm>
        <a:off x="2838633" y="2118693"/>
        <a:ext cx="2577622" cy="1546573"/>
      </dsp:txXfrm>
    </dsp:sp>
    <dsp:sp modelId="{DFEFA73D-FB17-4B11-84C7-E0652C4EB56B}">
      <dsp:nvSpPr>
        <dsp:cNvPr id="0" name=""/>
        <dsp:cNvSpPr/>
      </dsp:nvSpPr>
      <dsp:spPr>
        <a:xfrm>
          <a:off x="5674018" y="2118693"/>
          <a:ext cx="2577622" cy="15465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PALL</a:t>
          </a:r>
          <a:endParaRPr lang="tr-TR" sz="2200" b="1" kern="1200" dirty="0"/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Aberdeen Physical Palladium</a:t>
          </a:r>
        </a:p>
      </dsp:txBody>
      <dsp:txXfrm>
        <a:off x="5674018" y="2118693"/>
        <a:ext cx="2577622" cy="1546573"/>
      </dsp:txXfrm>
    </dsp:sp>
    <dsp:sp modelId="{536A5B53-2CA4-4E41-8277-AC9F929CFC6A}">
      <dsp:nvSpPr>
        <dsp:cNvPr id="0" name=""/>
        <dsp:cNvSpPr/>
      </dsp:nvSpPr>
      <dsp:spPr>
        <a:xfrm>
          <a:off x="8509402" y="2118693"/>
          <a:ext cx="2577622" cy="15465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GLD</a:t>
          </a:r>
          <a:endParaRPr lang="tr-TR" sz="2200" b="1" kern="1200" dirty="0"/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SPDR Gold Shares</a:t>
          </a:r>
        </a:p>
      </dsp:txBody>
      <dsp:txXfrm>
        <a:off x="8509402" y="2118693"/>
        <a:ext cx="2577622" cy="15465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E62B45-C26D-426F-AC8C-CE45E7EC6221}">
      <dsp:nvSpPr>
        <dsp:cNvPr id="0" name=""/>
        <dsp:cNvSpPr/>
      </dsp:nvSpPr>
      <dsp:spPr>
        <a:xfrm>
          <a:off x="0" y="703"/>
          <a:ext cx="637381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729316-43EE-48AE-89C9-F3D519A718D8}">
      <dsp:nvSpPr>
        <dsp:cNvPr id="0" name=""/>
        <dsp:cNvSpPr/>
      </dsp:nvSpPr>
      <dsp:spPr>
        <a:xfrm>
          <a:off x="0" y="703"/>
          <a:ext cx="6373813" cy="1151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/>
            <a:t>Prices downloaded from Yahoo Finance. Daily adjusted closing prices, 2021 – 2025. </a:t>
          </a:r>
          <a:endParaRPr lang="en-US" sz="2200" kern="1200"/>
        </a:p>
      </dsp:txBody>
      <dsp:txXfrm>
        <a:off x="0" y="703"/>
        <a:ext cx="6373813" cy="1151608"/>
      </dsp:txXfrm>
    </dsp:sp>
    <dsp:sp modelId="{7CDEAEF4-7F36-4B16-BE47-7252BA58A09D}">
      <dsp:nvSpPr>
        <dsp:cNvPr id="0" name=""/>
        <dsp:cNvSpPr/>
      </dsp:nvSpPr>
      <dsp:spPr>
        <a:xfrm>
          <a:off x="0" y="1152311"/>
          <a:ext cx="6373813" cy="0"/>
        </a:xfrm>
        <a:prstGeom prst="line">
          <a:avLst/>
        </a:prstGeom>
        <a:solidFill>
          <a:schemeClr val="accent2">
            <a:hueOff val="1923220"/>
            <a:satOff val="2051"/>
            <a:lumOff val="638"/>
            <a:alphaOff val="0"/>
          </a:schemeClr>
        </a:solidFill>
        <a:ln w="12700" cap="flat" cmpd="sng" algn="ctr">
          <a:solidFill>
            <a:schemeClr val="accent2">
              <a:hueOff val="1923220"/>
              <a:satOff val="2051"/>
              <a:lumOff val="6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ADDF4F-8668-46BB-AD38-08C9DD15B77B}">
      <dsp:nvSpPr>
        <dsp:cNvPr id="0" name=""/>
        <dsp:cNvSpPr/>
      </dsp:nvSpPr>
      <dsp:spPr>
        <a:xfrm>
          <a:off x="0" y="1152311"/>
          <a:ext cx="6373813" cy="1151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/>
            <a:t>1-day lag on all decisions — weights are computed from yesterday's data and applied today. No look-ahead bias. </a:t>
          </a:r>
          <a:endParaRPr lang="en-US" sz="2200" kern="1200"/>
        </a:p>
      </dsp:txBody>
      <dsp:txXfrm>
        <a:off x="0" y="1152311"/>
        <a:ext cx="6373813" cy="1151608"/>
      </dsp:txXfrm>
    </dsp:sp>
    <dsp:sp modelId="{AF6B60D7-18D4-4462-8888-F470C80DD0EE}">
      <dsp:nvSpPr>
        <dsp:cNvPr id="0" name=""/>
        <dsp:cNvSpPr/>
      </dsp:nvSpPr>
      <dsp:spPr>
        <a:xfrm>
          <a:off x="0" y="2303920"/>
          <a:ext cx="6373813" cy="0"/>
        </a:xfrm>
        <a:prstGeom prst="line">
          <a:avLst/>
        </a:prstGeom>
        <a:solidFill>
          <a:schemeClr val="accent2">
            <a:hueOff val="3846440"/>
            <a:satOff val="4103"/>
            <a:lumOff val="1275"/>
            <a:alphaOff val="0"/>
          </a:schemeClr>
        </a:solidFill>
        <a:ln w="12700" cap="flat" cmpd="sng" algn="ctr">
          <a:solidFill>
            <a:schemeClr val="accent2">
              <a:hueOff val="3846440"/>
              <a:satOff val="4103"/>
              <a:lumOff val="12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338FDE-9373-4978-9644-23620463F701}">
      <dsp:nvSpPr>
        <dsp:cNvPr id="0" name=""/>
        <dsp:cNvSpPr/>
      </dsp:nvSpPr>
      <dsp:spPr>
        <a:xfrm>
          <a:off x="0" y="2303920"/>
          <a:ext cx="6373813" cy="1151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i="0" kern="1200" baseline="0"/>
            <a:t>Benchmark is a simple equal-weighted 1/N portfolio, rebalanced daily. No parameters, no signal. </a:t>
          </a:r>
          <a:endParaRPr lang="en-US" sz="2200" kern="1200"/>
        </a:p>
      </dsp:txBody>
      <dsp:txXfrm>
        <a:off x="0" y="2303920"/>
        <a:ext cx="6373813" cy="1151608"/>
      </dsp:txXfrm>
    </dsp:sp>
    <dsp:sp modelId="{66931597-1C02-48B5-8FDE-4D3AE66F0E61}">
      <dsp:nvSpPr>
        <dsp:cNvPr id="0" name=""/>
        <dsp:cNvSpPr/>
      </dsp:nvSpPr>
      <dsp:spPr>
        <a:xfrm>
          <a:off x="0" y="3455529"/>
          <a:ext cx="6373813" cy="0"/>
        </a:xfrm>
        <a:prstGeom prst="line">
          <a:avLst/>
        </a:prstGeom>
        <a:solidFill>
          <a:schemeClr val="accent2">
            <a:hueOff val="5769660"/>
            <a:satOff val="6154"/>
            <a:lumOff val="1913"/>
            <a:alphaOff val="0"/>
          </a:schemeClr>
        </a:solidFill>
        <a:ln w="12700" cap="flat" cmpd="sng" algn="ctr">
          <a:solidFill>
            <a:schemeClr val="accent2">
              <a:hueOff val="5769660"/>
              <a:satOff val="6154"/>
              <a:lumOff val="19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2B1492-9978-475A-9C50-7AD9A6A9E5A7}">
      <dsp:nvSpPr>
        <dsp:cNvPr id="0" name=""/>
        <dsp:cNvSpPr/>
      </dsp:nvSpPr>
      <dsp:spPr>
        <a:xfrm>
          <a:off x="0" y="3455529"/>
          <a:ext cx="6373813" cy="1151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i="0" kern="1200" baseline="0" dirty="0" err="1"/>
            <a:t>We</a:t>
          </a:r>
          <a:r>
            <a:rPr lang="tr-TR" sz="2200" i="0" kern="1200" baseline="0" dirty="0"/>
            <a:t> ran a grid </a:t>
          </a:r>
          <a:r>
            <a:rPr lang="tr-TR" sz="2200" i="0" kern="1200" baseline="0" dirty="0" err="1"/>
            <a:t>search</a:t>
          </a:r>
          <a:r>
            <a:rPr lang="tr-TR" sz="2200" i="0" kern="1200" baseline="0" dirty="0"/>
            <a:t> </a:t>
          </a:r>
          <a:r>
            <a:rPr lang="tr-TR" sz="2200" i="0" kern="1200" baseline="0" dirty="0" err="1"/>
            <a:t>over</a:t>
          </a:r>
          <a:r>
            <a:rPr lang="tr-TR" sz="2200" i="0" kern="1200" baseline="0" dirty="0"/>
            <a:t> 486 </a:t>
          </a:r>
          <a:r>
            <a:rPr lang="tr-TR" sz="2200" i="0" kern="1200" baseline="0" dirty="0" err="1"/>
            <a:t>parameter</a:t>
          </a:r>
          <a:r>
            <a:rPr lang="tr-TR" sz="2200" i="0" kern="1200" baseline="0" dirty="0"/>
            <a:t> </a:t>
          </a:r>
          <a:r>
            <a:rPr lang="tr-TR" sz="2200" i="0" kern="1200" baseline="0" dirty="0" err="1"/>
            <a:t>combinations</a:t>
          </a:r>
          <a:r>
            <a:rPr lang="tr-TR" sz="2200" i="0" kern="1200" baseline="0" dirty="0"/>
            <a:t> </a:t>
          </a:r>
          <a:r>
            <a:rPr lang="tr-TR" sz="2200" i="0" kern="1200" baseline="0" dirty="0" err="1"/>
            <a:t>per</a:t>
          </a:r>
          <a:r>
            <a:rPr lang="tr-TR" sz="2200" i="0" kern="1200" baseline="0" dirty="0"/>
            <a:t> </a:t>
          </a:r>
          <a:r>
            <a:rPr lang="tr-TR" sz="2200" i="0" kern="1200" baseline="0" dirty="0" err="1"/>
            <a:t>period</a:t>
          </a:r>
          <a:r>
            <a:rPr lang="tr-TR" sz="2200" i="0" kern="1200" baseline="0" dirty="0"/>
            <a:t> </a:t>
          </a:r>
          <a:r>
            <a:rPr lang="tr-TR" sz="2200" i="0" kern="1200" baseline="0" dirty="0" err="1"/>
            <a:t>to</a:t>
          </a:r>
          <a:r>
            <a:rPr lang="tr-TR" sz="2200" i="0" kern="1200" baseline="0" dirty="0"/>
            <a:t> </a:t>
          </a:r>
          <a:r>
            <a:rPr lang="tr-TR" sz="2200" i="0" kern="1200" baseline="0" dirty="0" err="1"/>
            <a:t>find</a:t>
          </a:r>
          <a:r>
            <a:rPr lang="tr-TR" sz="2200" i="0" kern="1200" baseline="0" dirty="0"/>
            <a:t> </a:t>
          </a:r>
          <a:r>
            <a:rPr lang="tr-TR" sz="2200" i="0" kern="1200" baseline="0" dirty="0" err="1"/>
            <a:t>what</a:t>
          </a:r>
          <a:r>
            <a:rPr lang="tr-TR" sz="2200" i="0" kern="1200" baseline="0" dirty="0"/>
            <a:t> </a:t>
          </a:r>
          <a:r>
            <a:rPr lang="tr-TR" sz="2200" i="0" kern="1200" baseline="0" dirty="0" err="1"/>
            <a:t>works</a:t>
          </a:r>
          <a:r>
            <a:rPr lang="tr-TR" sz="2200" i="0" kern="1200" baseline="0" dirty="0"/>
            <a:t> </a:t>
          </a:r>
          <a:r>
            <a:rPr lang="tr-TR" sz="2200" i="0" kern="1200" baseline="0" dirty="0" err="1"/>
            <a:t>and</a:t>
          </a:r>
          <a:r>
            <a:rPr lang="tr-TR" sz="2200" i="0" kern="1200" baseline="0" dirty="0"/>
            <a:t> </a:t>
          </a:r>
          <a:r>
            <a:rPr lang="tr-TR" sz="2200" i="0" kern="1200" baseline="0" dirty="0" err="1"/>
            <a:t>what</a:t>
          </a:r>
          <a:r>
            <a:rPr lang="tr-TR" sz="2200" i="0" kern="1200" baseline="0" dirty="0"/>
            <a:t> doesn't. </a:t>
          </a:r>
          <a:endParaRPr lang="en-US" sz="2200" kern="1200" dirty="0"/>
        </a:p>
      </dsp:txBody>
      <dsp:txXfrm>
        <a:off x="0" y="3455529"/>
        <a:ext cx="6373813" cy="1151608"/>
      </dsp:txXfrm>
    </dsp:sp>
    <dsp:sp modelId="{5E4DF231-4330-48B0-8FF2-CD1E243C4A56}">
      <dsp:nvSpPr>
        <dsp:cNvPr id="0" name=""/>
        <dsp:cNvSpPr/>
      </dsp:nvSpPr>
      <dsp:spPr>
        <a:xfrm>
          <a:off x="0" y="4607138"/>
          <a:ext cx="6373813" cy="0"/>
        </a:xfrm>
        <a:prstGeom prst="line">
          <a:avLst/>
        </a:prstGeom>
        <a:solidFill>
          <a:schemeClr val="accent2">
            <a:hueOff val="7692880"/>
            <a:satOff val="8205"/>
            <a:lumOff val="2551"/>
            <a:alphaOff val="0"/>
          </a:schemeClr>
        </a:solidFill>
        <a:ln w="12700" cap="flat" cmpd="sng" algn="ctr">
          <a:solidFill>
            <a:schemeClr val="accent2">
              <a:hueOff val="7692880"/>
              <a:satOff val="8205"/>
              <a:lumOff val="25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AE7791-DDA0-4E8B-81E3-35B6E2A6C6B5}">
      <dsp:nvSpPr>
        <dsp:cNvPr id="0" name=""/>
        <dsp:cNvSpPr/>
      </dsp:nvSpPr>
      <dsp:spPr>
        <a:xfrm>
          <a:off x="0" y="4607138"/>
          <a:ext cx="6373813" cy="1151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i="0" kern="1200" baseline="0"/>
            <a:t>Metrics reported: cumulative return, annualised return, Sharpe ratio, maximum drawdown, Calmar ratio, average cash allocation. </a:t>
          </a:r>
          <a:endParaRPr lang="en-US" sz="2200" kern="1200"/>
        </a:p>
      </dsp:txBody>
      <dsp:txXfrm>
        <a:off x="0" y="4607138"/>
        <a:ext cx="6373813" cy="11516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4BF1AC-FCFF-476B-9166-5E8A51ABB215}">
      <dsp:nvSpPr>
        <dsp:cNvPr id="0" name=""/>
        <dsp:cNvSpPr/>
      </dsp:nvSpPr>
      <dsp:spPr>
        <a:xfrm>
          <a:off x="164169" y="927"/>
          <a:ext cx="2878797" cy="172727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1" i="0" kern="1200" baseline="0"/>
            <a:t>Lookback Days</a:t>
          </a:r>
          <a:r>
            <a:rPr lang="tr-TR" sz="1500" b="0" i="0" kern="1200" baseline="0"/>
            <a:t> — How many trading days the rolling mean and standard deviation are calculated over. Shorter = more sensitive to recent moves. [10,20,30]</a:t>
          </a:r>
          <a:endParaRPr lang="en-US" sz="1500" kern="1200"/>
        </a:p>
      </dsp:txBody>
      <dsp:txXfrm>
        <a:off x="164169" y="927"/>
        <a:ext cx="2878797" cy="1727278"/>
      </dsp:txXfrm>
    </dsp:sp>
    <dsp:sp modelId="{CEB07E6B-24AA-4AB0-A7A2-23DA8786D9CF}">
      <dsp:nvSpPr>
        <dsp:cNvPr id="0" name=""/>
        <dsp:cNvSpPr/>
      </dsp:nvSpPr>
      <dsp:spPr>
        <a:xfrm>
          <a:off x="3330846" y="927"/>
          <a:ext cx="2878797" cy="172727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1" i="0" kern="1200" baseline="0"/>
            <a:t>Estimation Window</a:t>
          </a:r>
          <a:r>
            <a:rPr lang="tr-TR" sz="1500" b="0" i="0" kern="1200" baseline="0"/>
            <a:t> — How many days of historical returns are used to estimate expected returns and the covariance matrix for Markowitz. </a:t>
          </a:r>
          <a:r>
            <a:rPr lang="tr-TR" sz="1500" kern="1200"/>
            <a:t>[30,60]</a:t>
          </a:r>
          <a:endParaRPr lang="en-US" sz="1500" kern="1200"/>
        </a:p>
      </dsp:txBody>
      <dsp:txXfrm>
        <a:off x="3330846" y="927"/>
        <a:ext cx="2878797" cy="1727278"/>
      </dsp:txXfrm>
    </dsp:sp>
    <dsp:sp modelId="{35F8A890-3C6A-40A0-9602-2D5D66CE54B4}">
      <dsp:nvSpPr>
        <dsp:cNvPr id="0" name=""/>
        <dsp:cNvSpPr/>
      </dsp:nvSpPr>
      <dsp:spPr>
        <a:xfrm>
          <a:off x="164169" y="2016085"/>
          <a:ext cx="2878797" cy="172727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1" i="0" kern="1200" baseline="0" dirty="0" err="1"/>
            <a:t>Rebalance</a:t>
          </a:r>
          <a:r>
            <a:rPr lang="tr-TR" sz="1500" b="1" i="0" kern="1200" baseline="0" dirty="0"/>
            <a:t> </a:t>
          </a:r>
          <a:r>
            <a:rPr lang="tr-TR" sz="1500" b="1" i="0" kern="1200" baseline="0" dirty="0" err="1"/>
            <a:t>Frequency</a:t>
          </a:r>
          <a:r>
            <a:rPr lang="tr-TR" sz="1500" b="0" i="0" kern="1200" baseline="0" dirty="0"/>
            <a:t> — How </a:t>
          </a:r>
          <a:r>
            <a:rPr lang="tr-TR" sz="1500" b="0" i="0" kern="1200" baseline="0" dirty="0" err="1"/>
            <a:t>often</a:t>
          </a:r>
          <a:r>
            <a:rPr lang="tr-TR" sz="1500" b="0" i="0" kern="1200" baseline="0" dirty="0"/>
            <a:t> </a:t>
          </a:r>
          <a:r>
            <a:rPr lang="tr-TR" sz="1500" b="0" i="0" kern="1200" baseline="0" dirty="0" err="1"/>
            <a:t>the</a:t>
          </a:r>
          <a:r>
            <a:rPr lang="tr-TR" sz="1500" b="0" i="0" kern="1200" baseline="0" dirty="0"/>
            <a:t> </a:t>
          </a:r>
          <a:r>
            <a:rPr lang="tr-TR" sz="1500" b="0" i="0" kern="1200" baseline="0" dirty="0" err="1"/>
            <a:t>portfolio</a:t>
          </a:r>
          <a:r>
            <a:rPr lang="tr-TR" sz="1500" b="0" i="0" kern="1200" baseline="0" dirty="0"/>
            <a:t> </a:t>
          </a:r>
          <a:r>
            <a:rPr lang="tr-TR" sz="1500" b="0" i="0" kern="1200" baseline="0" dirty="0" err="1"/>
            <a:t>weights</a:t>
          </a:r>
          <a:r>
            <a:rPr lang="tr-TR" sz="1500" b="0" i="0" kern="1200" baseline="0" dirty="0"/>
            <a:t> </a:t>
          </a:r>
          <a:r>
            <a:rPr lang="tr-TR" sz="1500" b="0" i="0" kern="1200" baseline="0" dirty="0" err="1"/>
            <a:t>are</a:t>
          </a:r>
          <a:r>
            <a:rPr lang="tr-TR" sz="1500" b="0" i="0" kern="1200" baseline="0" dirty="0"/>
            <a:t> </a:t>
          </a:r>
          <a:r>
            <a:rPr lang="tr-TR" sz="1500" b="0" i="0" kern="1200" baseline="0" dirty="0" err="1"/>
            <a:t>recalculated</a:t>
          </a:r>
          <a:r>
            <a:rPr lang="tr-TR" sz="1500" b="0" i="0" kern="1200" baseline="0" dirty="0"/>
            <a:t> </a:t>
          </a:r>
          <a:r>
            <a:rPr lang="tr-TR" sz="1500" b="0" i="0" kern="1200" baseline="0" dirty="0" err="1"/>
            <a:t>and</a:t>
          </a:r>
          <a:r>
            <a:rPr lang="tr-TR" sz="1500" b="0" i="0" kern="1200" baseline="0" dirty="0"/>
            <a:t> </a:t>
          </a:r>
          <a:r>
            <a:rPr lang="tr-TR" sz="1500" b="0" i="0" kern="1200" baseline="0" dirty="0" err="1"/>
            <a:t>updated</a:t>
          </a:r>
          <a:r>
            <a:rPr lang="tr-TR" sz="1500" b="0" i="0" kern="1200" baseline="0" dirty="0"/>
            <a:t>. Daily </a:t>
          </a:r>
          <a:r>
            <a:rPr lang="tr-TR" sz="1500" b="0" i="0" kern="1200" baseline="0" dirty="0" err="1"/>
            <a:t>rebalancing</a:t>
          </a:r>
          <a:r>
            <a:rPr lang="tr-TR" sz="1500" b="0" i="0" kern="1200" baseline="0" dirty="0"/>
            <a:t> </a:t>
          </a:r>
          <a:r>
            <a:rPr lang="tr-TR" sz="1500" b="0" i="0" kern="1200" baseline="0" dirty="0" err="1"/>
            <a:t>captures</a:t>
          </a:r>
          <a:r>
            <a:rPr lang="tr-TR" sz="1500" b="0" i="0" kern="1200" baseline="0" dirty="0"/>
            <a:t> </a:t>
          </a:r>
          <a:r>
            <a:rPr lang="tr-TR" sz="1500" b="0" i="0" kern="1200" baseline="0" dirty="0" err="1"/>
            <a:t>signals</a:t>
          </a:r>
          <a:r>
            <a:rPr lang="tr-TR" sz="1500" b="0" i="0" kern="1200" baseline="0" dirty="0"/>
            <a:t> </a:t>
          </a:r>
          <a:r>
            <a:rPr lang="tr-TR" sz="1500" b="0" i="0" kern="1200" baseline="0" dirty="0" err="1"/>
            <a:t>faster</a:t>
          </a:r>
          <a:r>
            <a:rPr lang="tr-TR" sz="1500" b="0" i="0" kern="1200" baseline="0" dirty="0"/>
            <a:t> but </a:t>
          </a:r>
          <a:r>
            <a:rPr lang="tr-TR" sz="1500" b="0" i="0" kern="1200" baseline="0" dirty="0" err="1"/>
            <a:t>increases</a:t>
          </a:r>
          <a:r>
            <a:rPr lang="tr-TR" sz="1500" b="0" i="0" kern="1200" baseline="0" dirty="0"/>
            <a:t> </a:t>
          </a:r>
          <a:r>
            <a:rPr lang="tr-TR" sz="1500" b="0" i="0" kern="1200" baseline="0" dirty="0" err="1"/>
            <a:t>transaction</a:t>
          </a:r>
          <a:r>
            <a:rPr lang="tr-TR" sz="1500" b="0" i="0" kern="1200" baseline="0" dirty="0"/>
            <a:t> </a:t>
          </a:r>
          <a:r>
            <a:rPr lang="tr-TR" sz="1500" b="0" i="0" kern="1200" baseline="0" dirty="0" err="1"/>
            <a:t>activity</a:t>
          </a:r>
          <a:r>
            <a:rPr lang="tr-TR" sz="1500" b="0" i="0" kern="1200" baseline="0" dirty="0"/>
            <a:t>.[1, 5, 21]</a:t>
          </a:r>
          <a:endParaRPr lang="en-US" sz="1500" kern="1200" dirty="0"/>
        </a:p>
      </dsp:txBody>
      <dsp:txXfrm>
        <a:off x="164169" y="2016085"/>
        <a:ext cx="2878797" cy="1727278"/>
      </dsp:txXfrm>
    </dsp:sp>
    <dsp:sp modelId="{44C567E7-9D82-49EF-BD4A-0A03BEF86A6D}">
      <dsp:nvSpPr>
        <dsp:cNvPr id="0" name=""/>
        <dsp:cNvSpPr/>
      </dsp:nvSpPr>
      <dsp:spPr>
        <a:xfrm>
          <a:off x="3330846" y="2016085"/>
          <a:ext cx="2878797" cy="172727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1" i="0" kern="1200" baseline="0"/>
            <a:t>Risk Aversion (λ)</a:t>
          </a:r>
          <a:r>
            <a:rPr lang="tr-TR" sz="1500" b="0" i="0" kern="1200" baseline="0"/>
            <a:t> — Controls the return / variance tradeoff in the optimiser. Higher values spread weight more evenly across assets; lower values concentrate on the highest expected return. [0.5, 1.0, 3.5]</a:t>
          </a:r>
          <a:endParaRPr lang="en-US" sz="1500" kern="1200"/>
        </a:p>
      </dsp:txBody>
      <dsp:txXfrm>
        <a:off x="3330846" y="2016085"/>
        <a:ext cx="2878797" cy="1727278"/>
      </dsp:txXfrm>
    </dsp:sp>
    <dsp:sp modelId="{39AA1D7A-AFE0-4CB2-ABA1-1BDFBBC38C66}">
      <dsp:nvSpPr>
        <dsp:cNvPr id="0" name=""/>
        <dsp:cNvSpPr/>
      </dsp:nvSpPr>
      <dsp:spPr>
        <a:xfrm>
          <a:off x="164169" y="4031244"/>
          <a:ext cx="2878797" cy="172727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1" i="0" kern="1200" baseline="0"/>
            <a:t>Stop-Loss</a:t>
          </a:r>
          <a:r>
            <a:rPr lang="tr-TR" sz="1500" b="0" i="0" kern="1200" baseline="0"/>
            <a:t> — Maximum allowed drawdown from an asset's 20-day peak before it is exited. </a:t>
          </a:r>
          <a:r>
            <a:rPr lang="tr-TR" sz="1500" kern="1200"/>
            <a:t>[0.05, 0.1, 0.2]</a:t>
          </a:r>
          <a:endParaRPr lang="en-US" sz="1500" kern="1200"/>
        </a:p>
      </dsp:txBody>
      <dsp:txXfrm>
        <a:off x="164169" y="4031244"/>
        <a:ext cx="2878797" cy="1727278"/>
      </dsp:txXfrm>
    </dsp:sp>
    <dsp:sp modelId="{89781D5D-BE4D-4544-894E-177E6F7C8EB9}">
      <dsp:nvSpPr>
        <dsp:cNvPr id="0" name=""/>
        <dsp:cNvSpPr/>
      </dsp:nvSpPr>
      <dsp:spPr>
        <a:xfrm>
          <a:off x="3330846" y="4031244"/>
          <a:ext cx="2878797" cy="172727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1" i="0" kern="1200" baseline="0"/>
            <a:t>Cooldown Days</a:t>
          </a:r>
          <a:r>
            <a:rPr lang="tr-TR" sz="1500" b="0" i="0" kern="1200" baseline="0"/>
            <a:t> — How many days an asset must wait before it can re-enter the portfolio after triggering a stop-loss. </a:t>
          </a:r>
          <a:r>
            <a:rPr lang="tr-TR" sz="1500" kern="1200"/>
            <a:t>[1, 5 ,10]</a:t>
          </a:r>
          <a:endParaRPr lang="en-US" sz="1500" kern="1200"/>
        </a:p>
      </dsp:txBody>
      <dsp:txXfrm>
        <a:off x="3330846" y="4031244"/>
        <a:ext cx="2878797" cy="17272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9CBE27-2492-493B-9138-D985CF649877}">
      <dsp:nvSpPr>
        <dsp:cNvPr id="0" name=""/>
        <dsp:cNvSpPr/>
      </dsp:nvSpPr>
      <dsp:spPr>
        <a:xfrm>
          <a:off x="164169" y="927"/>
          <a:ext cx="2878797" cy="172727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CPER — Copper</a:t>
          </a:r>
          <a:r>
            <a:rPr lang="en-US" sz="1300" kern="1200" dirty="0"/>
            <a:t> Lookback 20d · Daily · λ=0.5 · SL 10%</a:t>
          </a:r>
          <a:endParaRPr lang="tr-TR" sz="1300" kern="1200" dirty="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Copper has been trending structurally with AI infrastructure demand. Mean reversion signals fire too often and are unreliable. Only viable inside a diversified portfolio, not as a standalone position.</a:t>
          </a:r>
        </a:p>
      </dsp:txBody>
      <dsp:txXfrm>
        <a:off x="164169" y="927"/>
        <a:ext cx="2878797" cy="1727278"/>
      </dsp:txXfrm>
    </dsp:sp>
    <dsp:sp modelId="{367BE64D-4AF9-4A06-A6AC-C62D811D4086}">
      <dsp:nvSpPr>
        <dsp:cNvPr id="0" name=""/>
        <dsp:cNvSpPr/>
      </dsp:nvSpPr>
      <dsp:spPr>
        <a:xfrm>
          <a:off x="3330846" y="927"/>
          <a:ext cx="2878797" cy="1727278"/>
        </a:xfrm>
        <a:prstGeom prst="rect">
          <a:avLst/>
        </a:prstGeom>
        <a:solidFill>
          <a:schemeClr val="accent5">
            <a:hueOff val="72001"/>
            <a:satOff val="1738"/>
            <a:lumOff val="-8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LIT — Lithium</a:t>
          </a:r>
          <a:r>
            <a:rPr lang="en-US" sz="1300" kern="1200" dirty="0"/>
            <a:t> Lookback 10-20d · Monthly · λ=1.0 · SL 10%</a:t>
          </a:r>
          <a:endParaRPr lang="tr-TR" sz="1300" kern="1200" dirty="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 </a:t>
          </a:r>
          <a:r>
            <a:rPr lang="en-US" sz="1300" kern="1200" dirty="0"/>
            <a:t>The buy-and-hold benchmark lost 65% over five years. Monthly rebalancing combined with heavy cash allocation allowed the strategy to sidestep the worst of the drawdown.</a:t>
          </a:r>
        </a:p>
      </dsp:txBody>
      <dsp:txXfrm>
        <a:off x="3330846" y="927"/>
        <a:ext cx="2878797" cy="1727278"/>
      </dsp:txXfrm>
    </dsp:sp>
    <dsp:sp modelId="{8657455F-0E2D-418B-BA63-DF226144A792}">
      <dsp:nvSpPr>
        <dsp:cNvPr id="0" name=""/>
        <dsp:cNvSpPr/>
      </dsp:nvSpPr>
      <dsp:spPr>
        <a:xfrm>
          <a:off x="164169" y="2016085"/>
          <a:ext cx="2878797" cy="1727278"/>
        </a:xfrm>
        <a:prstGeom prst="rect">
          <a:avLst/>
        </a:prstGeom>
        <a:solidFill>
          <a:schemeClr val="accent5">
            <a:hueOff val="144003"/>
            <a:satOff val="3477"/>
            <a:lumOff val="-16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PALL — Palladium</a:t>
          </a:r>
          <a:r>
            <a:rPr lang="en-US" sz="1300" kern="1200" dirty="0"/>
            <a:t> Lookback 20-30d · Monthly · λ=0.5 · SL 10%</a:t>
          </a:r>
          <a:endParaRPr lang="tr-TR" sz="1300" kern="1200" dirty="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The benchmark Sharpe was nearly zero. The strategy turned it into +0.82 by holding 74% cash during the 2022 crash and re-entering on the recovery.</a:t>
          </a:r>
        </a:p>
      </dsp:txBody>
      <dsp:txXfrm>
        <a:off x="164169" y="2016085"/>
        <a:ext cx="2878797" cy="1727278"/>
      </dsp:txXfrm>
    </dsp:sp>
    <dsp:sp modelId="{0A4F1639-32C0-40DA-ABDD-76504B74325F}">
      <dsp:nvSpPr>
        <dsp:cNvPr id="0" name=""/>
        <dsp:cNvSpPr/>
      </dsp:nvSpPr>
      <dsp:spPr>
        <a:xfrm>
          <a:off x="3330846" y="2016085"/>
          <a:ext cx="2878797" cy="1727278"/>
        </a:xfrm>
        <a:prstGeom prst="rect">
          <a:avLst/>
        </a:prstGeom>
        <a:solidFill>
          <a:schemeClr val="accent5">
            <a:hueOff val="216004"/>
            <a:satOff val="5215"/>
            <a:lumOff val="-25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JJU — </a:t>
          </a:r>
          <a:r>
            <a:rPr lang="en-US" sz="1300" b="1" kern="1200" dirty="0" err="1"/>
            <a:t>Aluminium</a:t>
          </a:r>
          <a:r>
            <a:rPr lang="en-US" sz="1300" kern="1200" dirty="0"/>
            <a:t> Lookback 20d · Daily · λ=3.5 · SL 5% · Cooldown 10d</a:t>
          </a:r>
          <a:endParaRPr lang="tr-TR" sz="1300" kern="1200" dirty="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 </a:t>
          </a:r>
          <a:r>
            <a:rPr lang="en-US" sz="1300" kern="1200" dirty="0"/>
            <a:t>The strongest result in the entire analysis — a +0.93 Sharpe gap over the benchmark. High risk aversion combined with a tight stop-loss produced the best risk-adjusted outcome of any single asset.</a:t>
          </a:r>
        </a:p>
      </dsp:txBody>
      <dsp:txXfrm>
        <a:off x="3330846" y="2016085"/>
        <a:ext cx="2878797" cy="1727278"/>
      </dsp:txXfrm>
    </dsp:sp>
    <dsp:sp modelId="{2CDF5525-7237-4F72-ADB6-AF6B36E949A7}">
      <dsp:nvSpPr>
        <dsp:cNvPr id="0" name=""/>
        <dsp:cNvSpPr/>
      </dsp:nvSpPr>
      <dsp:spPr>
        <a:xfrm>
          <a:off x="164169" y="4031244"/>
          <a:ext cx="2878797" cy="1727278"/>
        </a:xfrm>
        <a:prstGeom prst="rect">
          <a:avLst/>
        </a:prstGeom>
        <a:solidFill>
          <a:schemeClr val="accent5">
            <a:hueOff val="288005"/>
            <a:satOff val="6954"/>
            <a:lumOff val="-33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GLD — Gold</a:t>
          </a:r>
          <a:r>
            <a:rPr lang="en-US" sz="1300" kern="1200" dirty="0"/>
            <a:t> Lookback 30d · Monthly · λ=0.5 · SL 20%</a:t>
          </a:r>
          <a:r>
            <a:rPr lang="tr-TR" sz="1300" kern="1200" dirty="0"/>
            <a:t>: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Gold's secular uptrend means the strategy stays invested most of the time. A longer lookback and a loose stop-loss prevent premature exits on temporary dips. Low maintenance, consistent returns.</a:t>
          </a:r>
        </a:p>
      </dsp:txBody>
      <dsp:txXfrm>
        <a:off x="164169" y="4031244"/>
        <a:ext cx="2878797" cy="1727278"/>
      </dsp:txXfrm>
    </dsp:sp>
    <dsp:sp modelId="{63FC2E7E-8252-44F7-8372-F902CA25F798}">
      <dsp:nvSpPr>
        <dsp:cNvPr id="0" name=""/>
        <dsp:cNvSpPr/>
      </dsp:nvSpPr>
      <dsp:spPr>
        <a:xfrm>
          <a:off x="3330846" y="4031244"/>
          <a:ext cx="2878797" cy="1727278"/>
        </a:xfrm>
        <a:prstGeom prst="rect">
          <a:avLst/>
        </a:prstGeom>
        <a:solidFill>
          <a:schemeClr val="accent5">
            <a:hueOff val="360006"/>
            <a:satOff val="8692"/>
            <a:lumOff val="-4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JJN — Nickel</a:t>
          </a:r>
          <a:r>
            <a:rPr lang="en-US" sz="1300" kern="1200" dirty="0"/>
            <a:t> Lookback 20d · Daily · λ=1.0 · SL 5% · Cooldown 10d</a:t>
          </a:r>
          <a:endParaRPr lang="tr-TR" sz="1300" kern="1200" dirty="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 </a:t>
          </a:r>
          <a:r>
            <a:rPr lang="en-US" sz="1300" kern="1200" dirty="0"/>
            <a:t>86% average cash across the 2021–2023 window. The benchmark lost 61% over the same period. The strategy avoided almost all of that by simply not being in the market when conditions were </a:t>
          </a:r>
          <a:r>
            <a:rPr lang="en-US" sz="1300" kern="1200" dirty="0" err="1"/>
            <a:t>unfavourable</a:t>
          </a:r>
          <a:r>
            <a:rPr lang="en-US" sz="1300" kern="1200" dirty="0"/>
            <a:t>.</a:t>
          </a:r>
        </a:p>
      </dsp:txBody>
      <dsp:txXfrm>
        <a:off x="3330846" y="4031244"/>
        <a:ext cx="2878797" cy="17272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Wednesday, March 25,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5264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Wednesday, March 25,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782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Wednesday, March 25,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59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Wednesday, March 25,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68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Wednesday, March 25,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85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Wednesday, March 25,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26944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Wednesday, March 25,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002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Wednesday, March 25,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244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Wednesday, March 25,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8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Wednesday, March 25,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085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Wednesday, March 25,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88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Wednesday, March 25,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0817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68" r:id="rId6"/>
    <p:sldLayoutId id="2147483764" r:id="rId7"/>
    <p:sldLayoutId id="2147483765" r:id="rId8"/>
    <p:sldLayoutId id="2147483766" r:id="rId9"/>
    <p:sldLayoutId id="2147483767" r:id="rId10"/>
    <p:sldLayoutId id="214748376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4DD8EB-4BEB-D22D-5E86-1AC56A9CE4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839" b="17911"/>
          <a:stretch>
            <a:fillRect/>
          </a:stretch>
        </p:blipFill>
        <p:spPr>
          <a:xfrm>
            <a:off x="20" y="1"/>
            <a:ext cx="1219198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D4EA4DF-0E7C-4098-86F6-7D0ACAEFC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7859713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E0CD97-3BF2-1681-F30B-C0D220B07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1102052"/>
            <a:ext cx="10149220" cy="2887174"/>
          </a:xfrm>
        </p:spPr>
        <p:txBody>
          <a:bodyPr anchor="b">
            <a:normAutofit fontScale="90000"/>
          </a:bodyPr>
          <a:lstStyle/>
          <a:p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Mining</a:t>
            </a:r>
            <a:br>
              <a:rPr lang="en-US" sz="4800" dirty="0"/>
            </a:br>
            <a:r>
              <a:rPr lang="en-US" sz="4800" i="1" dirty="0">
                <a:solidFill>
                  <a:schemeClr val="bg2">
                    <a:lumMod val="25000"/>
                    <a:lumOff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Reversion Strategy on AI Infrastructure Commodities</a:t>
            </a:r>
            <a:br>
              <a:rPr lang="en-US" sz="4800" dirty="0"/>
            </a:br>
            <a:endParaRPr lang="tr-TR" sz="48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05BC49-0F00-4C85-9AF5-A0CC5B39C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D0A28-F985-ED3B-84A1-A943707F6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964525"/>
            <a:ext cx="6245722" cy="2523817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 471 — Computational Finance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Zeynep Yavuz · Nazlı Ceyda Ünsoy · Betül Ak</a:t>
            </a:r>
            <a:r>
              <a:rPr lang="tr-TR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ınar</a:t>
            </a:r>
            <a:endParaRPr lang="en-US" sz="2000" b="1" dirty="0"/>
          </a:p>
          <a:p>
            <a:endParaRPr lang="tr-TR" sz="2000" dirty="0"/>
          </a:p>
          <a:p>
            <a:endParaRPr lang="tr-TR" sz="2000" dirty="0">
              <a:solidFill>
                <a:schemeClr val="tx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132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0E98F-772E-61D6-81AB-855E1A931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Introduction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59A8B-CC5B-81E2-E13E-B149FED8C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542197"/>
            <a:ext cx="11090274" cy="4550627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rgbClr val="F8F8F8"/>
                </a:solidFill>
              </a:rPr>
              <a:t>We built a systematic trading strategy for commodity ETFs tied to AI infrastructure — copper, lithium, silver, palladium and others.</a:t>
            </a:r>
          </a:p>
          <a:p>
            <a:r>
              <a:rPr lang="en-US" dirty="0">
                <a:solidFill>
                  <a:srgbClr val="F8F8F8"/>
                </a:solidFill>
              </a:rPr>
              <a:t>The core idea is simple: when a metal's price moves too far from its historical average, it tends to come back. We exploit that tendency using a statistical signal called the z-score, combined with a Markowitz portfolio </a:t>
            </a:r>
            <a:r>
              <a:rPr lang="en-US" dirty="0" err="1">
                <a:solidFill>
                  <a:srgbClr val="F8F8F8"/>
                </a:solidFill>
              </a:rPr>
              <a:t>optimiser</a:t>
            </a:r>
            <a:r>
              <a:rPr lang="en-US" dirty="0">
                <a:solidFill>
                  <a:srgbClr val="F8F8F8"/>
                </a:solidFill>
              </a:rPr>
              <a:t> and a stop-loss layer.</a:t>
            </a:r>
          </a:p>
          <a:p>
            <a:r>
              <a:rPr lang="en-US" dirty="0">
                <a:solidFill>
                  <a:srgbClr val="F8F8F8"/>
                </a:solidFill>
              </a:rPr>
              <a:t>The strategy runs fully automatically. Given a date range and a set of assets, it downloads prices, generates signals, builds a portfolio, manages risk, and reports performance — all without human intervention.</a:t>
            </a:r>
          </a:p>
          <a:p>
            <a:r>
              <a:rPr lang="en-US" dirty="0">
                <a:solidFill>
                  <a:srgbClr val="F8F8F8"/>
                </a:solidFill>
              </a:rPr>
              <a:t>We tested it across four distinct market periods between 2021 and 2025, including the 2022 rate shock, the 2023-24 AI investment surge, and 2024's volatile market. We also ran a grid search over 486 parameter combinations to understand what actually drives performance.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65199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322D7-465C-B65A-B6CF-634931062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Assets</a:t>
            </a:r>
            <a:endParaRPr lang="tr-TR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3954E3-CD21-E870-BFA9-66BA8993E1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8914547"/>
              </p:ext>
            </p:extLst>
          </p:nvPr>
        </p:nvGraphicFramePr>
        <p:xfrm>
          <a:off x="549538" y="1439187"/>
          <a:ext cx="11090274" cy="3979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4D27DE8-D2E6-1702-0188-0F9E03663974}"/>
              </a:ext>
            </a:extLst>
          </p:cNvPr>
          <p:cNvSpPr txBox="1"/>
          <p:nvPr/>
        </p:nvSpPr>
        <p:spPr>
          <a:xfrm>
            <a:off x="549539" y="5418812"/>
            <a:ext cx="110902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One important note: JJN and JJU were delisted by Barclays in June 2023. They are included in the full portfolio analysis up to that point, and separately tested across their available 2021 – 2023 window.</a:t>
            </a:r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2431833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FC5A7-DBAA-4B45-50A8-6A896298E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Signal</a:t>
            </a:r>
            <a:r>
              <a:rPr lang="tr-TR" dirty="0"/>
              <a:t> </a:t>
            </a:r>
            <a:r>
              <a:rPr lang="tr-TR" dirty="0" err="1"/>
              <a:t>Generation</a:t>
            </a:r>
            <a:r>
              <a:rPr lang="tr-TR" dirty="0"/>
              <a:t> : </a:t>
            </a:r>
            <a:r>
              <a:rPr lang="tr-TR" dirty="0" err="1"/>
              <a:t>Mean</a:t>
            </a:r>
            <a:r>
              <a:rPr lang="tr-TR" dirty="0"/>
              <a:t> </a:t>
            </a:r>
            <a:r>
              <a:rPr lang="tr-TR" dirty="0" err="1"/>
              <a:t>Reversion</a:t>
            </a:r>
            <a:endParaRPr lang="tr-TR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2D788F-CECA-6BAA-9514-BCAAC48F2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275" y="1881275"/>
            <a:ext cx="11090274" cy="4054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altLang="tr-TR" dirty="0" err="1">
                <a:solidFill>
                  <a:schemeClr val="tx1"/>
                </a:solidFill>
                <a:latin typeface="Arial" panose="020B0604020202020204" pitchFamily="34" charset="0"/>
              </a:rPr>
              <a:t>The</a:t>
            </a: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solidFill>
                  <a:schemeClr val="tx1"/>
                </a:solidFill>
                <a:latin typeface="Arial" panose="020B0604020202020204" pitchFamily="34" charset="0"/>
              </a:rPr>
              <a:t>core</a:t>
            </a: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 idea: </a:t>
            </a:r>
            <a:r>
              <a:rPr lang="tr-TR" altLang="tr-TR" dirty="0" err="1">
                <a:solidFill>
                  <a:schemeClr val="tx1"/>
                </a:solidFill>
                <a:latin typeface="Arial" panose="020B0604020202020204" pitchFamily="34" charset="0"/>
              </a:rPr>
              <a:t>if</a:t>
            </a: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 a </a:t>
            </a:r>
            <a:r>
              <a:rPr lang="tr-TR" altLang="tr-TR" dirty="0" err="1">
                <a:solidFill>
                  <a:schemeClr val="tx1"/>
                </a:solidFill>
                <a:latin typeface="Arial" panose="020B0604020202020204" pitchFamily="34" charset="0"/>
              </a:rPr>
              <a:t>price</a:t>
            </a: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 has </a:t>
            </a:r>
            <a:r>
              <a:rPr lang="tr-TR" altLang="tr-TR" dirty="0" err="1">
                <a:solidFill>
                  <a:schemeClr val="tx1"/>
                </a:solidFill>
                <a:latin typeface="Arial" panose="020B0604020202020204" pitchFamily="34" charset="0"/>
              </a:rPr>
              <a:t>moved</a:t>
            </a: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solidFill>
                  <a:schemeClr val="tx1"/>
                </a:solidFill>
                <a:latin typeface="Arial" panose="020B0604020202020204" pitchFamily="34" charset="0"/>
              </a:rPr>
              <a:t>too</a:t>
            </a: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 far </a:t>
            </a:r>
            <a:r>
              <a:rPr lang="tr-TR" altLang="tr-TR" dirty="0" err="1">
                <a:solidFill>
                  <a:schemeClr val="tx1"/>
                </a:solidFill>
                <a:latin typeface="Arial" panose="020B0604020202020204" pitchFamily="34" charset="0"/>
              </a:rPr>
              <a:t>from</a:t>
            </a: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solidFill>
                  <a:schemeClr val="tx1"/>
                </a:solidFill>
                <a:latin typeface="Arial" panose="020B0604020202020204" pitchFamily="34" charset="0"/>
              </a:rPr>
              <a:t>its</a:t>
            </a: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solidFill>
                  <a:schemeClr val="tx1"/>
                </a:solidFill>
                <a:latin typeface="Arial" panose="020B0604020202020204" pitchFamily="34" charset="0"/>
              </a:rPr>
              <a:t>average</a:t>
            </a: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, it </a:t>
            </a:r>
            <a:r>
              <a:rPr lang="tr-TR" altLang="tr-TR" dirty="0" err="1">
                <a:solidFill>
                  <a:schemeClr val="tx1"/>
                </a:solidFill>
                <a:latin typeface="Arial" panose="020B0604020202020204" pitchFamily="34" charset="0"/>
              </a:rPr>
              <a:t>tends</a:t>
            </a: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solidFill>
                  <a:schemeClr val="tx1"/>
                </a:solidFill>
                <a:latin typeface="Arial" panose="020B0604020202020204" pitchFamily="34" charset="0"/>
              </a:rPr>
              <a:t>to</a:t>
            </a: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solidFill>
                  <a:schemeClr val="tx1"/>
                </a:solidFill>
                <a:latin typeface="Arial" panose="020B0604020202020204" pitchFamily="34" charset="0"/>
              </a:rPr>
              <a:t>come</a:t>
            </a: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solidFill>
                  <a:schemeClr val="tx1"/>
                </a:solidFill>
                <a:latin typeface="Arial" panose="020B0604020202020204" pitchFamily="34" charset="0"/>
              </a:rPr>
              <a:t>back</a:t>
            </a: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tr-TR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tr-TR" dirty="0">
                <a:solidFill>
                  <a:srgbClr val="FFFFFF"/>
                </a:solidFill>
              </a:rPr>
              <a:t>z-</a:t>
            </a:r>
            <a:r>
              <a:rPr lang="tr-TR" dirty="0" err="1">
                <a:solidFill>
                  <a:srgbClr val="FFFFFF"/>
                </a:solidFill>
              </a:rPr>
              <a:t>score</a:t>
            </a:r>
            <a:r>
              <a:rPr lang="tr-TR" dirty="0">
                <a:solidFill>
                  <a:srgbClr val="FFFFFF"/>
                </a:solidFill>
              </a:rPr>
              <a:t> = ( </a:t>
            </a:r>
            <a:r>
              <a:rPr lang="tr-TR" dirty="0" err="1">
                <a:solidFill>
                  <a:srgbClr val="FFFFFF"/>
                </a:solidFill>
              </a:rPr>
              <a:t>P_t</a:t>
            </a:r>
            <a:r>
              <a:rPr lang="tr-TR" dirty="0">
                <a:solidFill>
                  <a:srgbClr val="FFFFFF"/>
                </a:solidFill>
              </a:rPr>
              <a:t> − </a:t>
            </a:r>
            <a:r>
              <a:rPr lang="el-GR" dirty="0">
                <a:solidFill>
                  <a:srgbClr val="FFFFFF"/>
                </a:solidFill>
              </a:rPr>
              <a:t>μ ) / σ</a:t>
            </a:r>
          </a:p>
          <a:p>
            <a:pPr marL="0" indent="0">
              <a:buNone/>
            </a:pPr>
            <a:r>
              <a:rPr lang="tr-TR" dirty="0" err="1">
                <a:solidFill>
                  <a:srgbClr val="FFFFFF"/>
                </a:solidFill>
              </a:rPr>
              <a:t>Then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we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generate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signals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based</a:t>
            </a:r>
            <a:r>
              <a:rPr lang="tr-TR" dirty="0">
                <a:solidFill>
                  <a:srgbClr val="FFFFFF"/>
                </a:solidFill>
              </a:rPr>
              <a:t> on how far z </a:t>
            </a:r>
            <a:r>
              <a:rPr lang="tr-TR" dirty="0" err="1">
                <a:solidFill>
                  <a:srgbClr val="FFFFFF"/>
                </a:solidFill>
              </a:rPr>
              <a:t>deviates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from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zero</a:t>
            </a:r>
            <a:r>
              <a:rPr lang="tr-TR" dirty="0">
                <a:solidFill>
                  <a:srgbClr val="FFFFFF"/>
                </a:solidFill>
              </a:rPr>
              <a:t>:</a:t>
            </a:r>
          </a:p>
          <a:p>
            <a:r>
              <a:rPr lang="tr-TR" b="1" dirty="0">
                <a:solidFill>
                  <a:srgbClr val="FFFFFF"/>
                </a:solidFill>
              </a:rPr>
              <a:t>Buy </a:t>
            </a:r>
            <a:r>
              <a:rPr lang="tr-TR" b="1" dirty="0" err="1">
                <a:solidFill>
                  <a:srgbClr val="FFFFFF"/>
                </a:solidFill>
              </a:rPr>
              <a:t>signal</a:t>
            </a:r>
            <a:r>
              <a:rPr lang="tr-TR" b="1" dirty="0">
                <a:solidFill>
                  <a:srgbClr val="FFFFFF"/>
                </a:solidFill>
              </a:rPr>
              <a:t>: </a:t>
            </a:r>
            <a:r>
              <a:rPr lang="tr-TR" b="1" dirty="0" err="1">
                <a:solidFill>
                  <a:srgbClr val="FFFFFF"/>
                </a:solidFill>
              </a:rPr>
              <a:t>P_t</a:t>
            </a:r>
            <a:r>
              <a:rPr lang="tr-TR" b="1" dirty="0">
                <a:solidFill>
                  <a:srgbClr val="FFFFFF"/>
                </a:solidFill>
              </a:rPr>
              <a:t> &lt; </a:t>
            </a:r>
            <a:r>
              <a:rPr lang="el-GR" b="1" dirty="0">
                <a:solidFill>
                  <a:srgbClr val="FFFFFF"/>
                </a:solidFill>
              </a:rPr>
              <a:t>μ − κσ</a:t>
            </a:r>
          </a:p>
          <a:p>
            <a:r>
              <a:rPr lang="tr-TR" b="1" dirty="0" err="1">
                <a:solidFill>
                  <a:srgbClr val="FFFFFF"/>
                </a:solidFill>
              </a:rPr>
              <a:t>Sell</a:t>
            </a:r>
            <a:r>
              <a:rPr lang="tr-TR" b="1" dirty="0">
                <a:solidFill>
                  <a:srgbClr val="FFFFFF"/>
                </a:solidFill>
              </a:rPr>
              <a:t> </a:t>
            </a:r>
            <a:r>
              <a:rPr lang="tr-TR" b="1" dirty="0" err="1">
                <a:solidFill>
                  <a:srgbClr val="FFFFFF"/>
                </a:solidFill>
              </a:rPr>
              <a:t>signal</a:t>
            </a:r>
            <a:r>
              <a:rPr lang="tr-TR" b="1" dirty="0">
                <a:solidFill>
                  <a:srgbClr val="FFFFFF"/>
                </a:solidFill>
              </a:rPr>
              <a:t>: </a:t>
            </a:r>
            <a:r>
              <a:rPr lang="tr-TR" b="1" dirty="0" err="1">
                <a:solidFill>
                  <a:srgbClr val="FFFFFF"/>
                </a:solidFill>
              </a:rPr>
              <a:t>P_t</a:t>
            </a:r>
            <a:r>
              <a:rPr lang="tr-TR" b="1" dirty="0">
                <a:solidFill>
                  <a:srgbClr val="FFFFFF"/>
                </a:solidFill>
              </a:rPr>
              <a:t> &gt; </a:t>
            </a:r>
            <a:r>
              <a:rPr lang="el-GR" b="1" dirty="0">
                <a:solidFill>
                  <a:srgbClr val="FFFFFF"/>
                </a:solidFill>
              </a:rPr>
              <a:t>μ + κσ</a:t>
            </a:r>
          </a:p>
          <a:p>
            <a:pPr marL="0" indent="0">
              <a:buNone/>
            </a:pPr>
            <a:r>
              <a:rPr lang="tr-TR" dirty="0" err="1">
                <a:solidFill>
                  <a:srgbClr val="FFFFFF"/>
                </a:solidFill>
              </a:rPr>
              <a:t>where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el-GR" dirty="0">
                <a:solidFill>
                  <a:srgbClr val="FFFFFF"/>
                </a:solidFill>
              </a:rPr>
              <a:t>κ = 1.645, </a:t>
            </a:r>
            <a:r>
              <a:rPr lang="tr-TR" dirty="0" err="1">
                <a:solidFill>
                  <a:srgbClr val="FFFFFF"/>
                </a:solidFill>
              </a:rPr>
              <a:t>the</a:t>
            </a:r>
            <a:r>
              <a:rPr lang="tr-TR" dirty="0">
                <a:solidFill>
                  <a:srgbClr val="FFFFFF"/>
                </a:solidFill>
              </a:rPr>
              <a:t> 90% </a:t>
            </a:r>
            <a:r>
              <a:rPr lang="tr-TR" dirty="0" err="1">
                <a:solidFill>
                  <a:srgbClr val="FFFFFF"/>
                </a:solidFill>
              </a:rPr>
              <a:t>confidence</a:t>
            </a:r>
            <a:r>
              <a:rPr lang="tr-TR" dirty="0">
                <a:solidFill>
                  <a:srgbClr val="FFFFFF"/>
                </a:solidFill>
              </a:rPr>
              <a:t> interval </a:t>
            </a:r>
            <a:r>
              <a:rPr lang="tr-TR" dirty="0" err="1">
                <a:solidFill>
                  <a:srgbClr val="FFFFFF"/>
                </a:solidFill>
              </a:rPr>
              <a:t>threshold</a:t>
            </a:r>
            <a:r>
              <a:rPr lang="tr-TR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0194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5CAFE-C2D9-3210-2431-5CFC62112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Portfolio Construction : </a:t>
            </a:r>
            <a:r>
              <a:rPr lang="en-US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Markowitz</a:t>
            </a:r>
            <a:r>
              <a:rPr lang="tr-TR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 </a:t>
            </a:r>
            <a:r>
              <a:rPr lang="tr-TR" dirty="0" err="1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Optimization</a:t>
            </a:r>
            <a:endParaRPr lang="tr-TR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8D44D-0A11-99F5-86A5-5F8063306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188" y="2525419"/>
            <a:ext cx="11090274" cy="581875"/>
          </a:xfrm>
          <a:solidFill>
            <a:schemeClr val="accent5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μᵀw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−  (λ/2)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wᵀΣw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|     0 ≤ wᵢ ≤ 1  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Σw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ᵢ = 1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tr-T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5907E9-0355-6353-3E1D-1D77A6D5492D}"/>
              </a:ext>
            </a:extLst>
          </p:cNvPr>
          <p:cNvSpPr txBox="1"/>
          <p:nvPr/>
        </p:nvSpPr>
        <p:spPr>
          <a:xfrm>
            <a:off x="550862" y="3751438"/>
            <a:ext cx="506387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Cash is included as an explicit asset </a:t>
            </a:r>
            <a:r>
              <a:rPr lang="en-US" sz="3000" dirty="0"/>
              <a:t> </a:t>
            </a:r>
            <a:endParaRPr lang="tr-TR" sz="3000" dirty="0"/>
          </a:p>
          <a:p>
            <a:r>
              <a:rPr lang="tr-TR" sz="3000" dirty="0"/>
              <a:t>I</a:t>
            </a:r>
            <a:r>
              <a:rPr lang="en-US" sz="3000" dirty="0"/>
              <a:t>f nothing looks attractive, the portfolio moves to cash</a:t>
            </a:r>
            <a:r>
              <a:rPr lang="tr-TR" sz="3000" dirty="0"/>
              <a:t>.</a:t>
            </a:r>
            <a:endParaRPr lang="tr-TR" sz="3000" dirty="0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F7A3AC-7B56-44B2-BFC3-8A71C683484C}"/>
              </a:ext>
            </a:extLst>
          </p:cNvPr>
          <p:cNvSpPr txBox="1"/>
          <p:nvPr/>
        </p:nvSpPr>
        <p:spPr>
          <a:xfrm>
            <a:off x="6416845" y="3751438"/>
            <a:ext cx="50638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No short selling </a:t>
            </a:r>
            <a:endParaRPr lang="tr-TR" sz="3000" b="1" dirty="0"/>
          </a:p>
          <a:p>
            <a:r>
              <a:rPr lang="tr-TR" sz="3000" dirty="0"/>
              <a:t>A</a:t>
            </a:r>
            <a:r>
              <a:rPr lang="en-US" sz="3000" dirty="0" err="1"/>
              <a:t>ll</a:t>
            </a:r>
            <a:r>
              <a:rPr lang="en-US" sz="3000" dirty="0"/>
              <a:t> weights are between 0 and 1.</a:t>
            </a:r>
            <a:endParaRPr lang="tr-TR" sz="3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841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F84E4-E0FD-C66C-EDAB-61F9AAB21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Risk Control : Stop-</a:t>
            </a:r>
            <a:r>
              <a:rPr lang="tr-TR" dirty="0" err="1"/>
              <a:t>Loss</a:t>
            </a:r>
            <a:r>
              <a:rPr lang="tr-TR" dirty="0"/>
              <a:t> </a:t>
            </a:r>
            <a:r>
              <a:rPr lang="tr-TR" dirty="0" err="1"/>
              <a:t>Mechanism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609FC-3AD3-3C1F-A3BA-3A92CE1B5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Mean reversion signals don't always arrive in time. A price can keep falling long after the z-score suggests a buy. The stop-loss is a reactive safety net — it limits the damage when the signal is wrong.</a:t>
            </a:r>
            <a:endParaRPr lang="tr-TR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If an asset drops more than </a:t>
            </a:r>
            <a:r>
              <a:rPr lang="tr-TR" dirty="0" err="1">
                <a:solidFill>
                  <a:srgbClr val="FFFFFF"/>
                </a:solidFill>
              </a:rPr>
              <a:t>threshold</a:t>
            </a:r>
            <a:r>
              <a:rPr lang="en-US" dirty="0">
                <a:solidFill>
                  <a:srgbClr val="FFFFFF"/>
                </a:solidFill>
              </a:rPr>
              <a:t> from its 20-day peak, it is exited immediately.</a:t>
            </a:r>
            <a:endParaRPr lang="tr-TR" dirty="0">
              <a:solidFill>
                <a:srgbClr val="FFFFFF"/>
              </a:solidFill>
            </a:endParaRPr>
          </a:p>
          <a:p>
            <a:r>
              <a:rPr lang="tr-TR" dirty="0">
                <a:solidFill>
                  <a:srgbClr val="FFFFFF"/>
                </a:solidFill>
              </a:rPr>
              <a:t>C</a:t>
            </a:r>
            <a:r>
              <a:rPr lang="en-US" dirty="0" err="1">
                <a:solidFill>
                  <a:srgbClr val="FFFFFF"/>
                </a:solidFill>
              </a:rPr>
              <a:t>ooldown</a:t>
            </a:r>
            <a:r>
              <a:rPr lang="en-US" dirty="0">
                <a:solidFill>
                  <a:srgbClr val="FFFFFF"/>
                </a:solidFill>
              </a:rPr>
              <a:t> follows — </a:t>
            </a:r>
            <a:r>
              <a:rPr lang="tr-TR" dirty="0">
                <a:solidFill>
                  <a:srgbClr val="FFFFFF"/>
                </a:solidFill>
              </a:rPr>
              <a:t>t</a:t>
            </a:r>
            <a:r>
              <a:rPr lang="en-US" dirty="0">
                <a:solidFill>
                  <a:srgbClr val="FFFFFF"/>
                </a:solidFill>
              </a:rPr>
              <a:t>he asset cannot re-enter until the window expires.</a:t>
            </a:r>
          </a:p>
          <a:p>
            <a:r>
              <a:rPr lang="en-US" dirty="0">
                <a:solidFill>
                  <a:srgbClr val="FFFFFF"/>
                </a:solidFill>
              </a:rPr>
              <a:t>The freed weight is redistributed to the remaining portfolio, or to cash if others look poor too.</a:t>
            </a:r>
          </a:p>
        </p:txBody>
      </p:sp>
    </p:spTree>
    <p:extLst>
      <p:ext uri="{BB962C8B-B14F-4D97-AF65-F5344CB8AC3E}">
        <p14:creationId xmlns:p14="http://schemas.microsoft.com/office/powerpoint/2010/main" val="1030560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305ECC-B5C9-C639-4B7B-7B7B881FE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3565525" cy="5543549"/>
          </a:xfrm>
        </p:spPr>
        <p:txBody>
          <a:bodyPr wrap="square" anchor="ctr">
            <a:normAutofit/>
          </a:bodyPr>
          <a:lstStyle/>
          <a:p>
            <a:r>
              <a:rPr lang="tr-TR" dirty="0" err="1"/>
              <a:t>Backtest</a:t>
            </a:r>
            <a:endParaRPr lang="tr-T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9899A3-416E-4DB5-846D-023526052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0899" y="0"/>
            <a:ext cx="7641102" cy="6858000"/>
          </a:xfrm>
          <a:prstGeom prst="rect">
            <a:avLst/>
          </a:prstGeom>
          <a:solidFill>
            <a:schemeClr val="bg2">
              <a:lumMod val="10000"/>
              <a:lumOff val="9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6B685BC-60E3-020B-55F1-CEAA4CE536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167584"/>
              </p:ext>
            </p:extLst>
          </p:nvPr>
        </p:nvGraphicFramePr>
        <p:xfrm>
          <a:off x="5267325" y="549275"/>
          <a:ext cx="6373814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8983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18735B-70D0-26F8-331F-DD69A8646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520825"/>
            <a:ext cx="4535487" cy="377983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tr-TR" sz="5900"/>
              <a:t>Backtest-Parameter Optimization</a:t>
            </a:r>
            <a:endParaRPr lang="tr-TR" sz="5900" dirty="0"/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F8486B27-982F-2F25-E733-07D28E62A2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3884571"/>
              </p:ext>
            </p:extLst>
          </p:nvPr>
        </p:nvGraphicFramePr>
        <p:xfrm>
          <a:off x="5267325" y="549275"/>
          <a:ext cx="6373814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5223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95EFF-30D1-50BF-7B7F-80351829D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Performances</a:t>
            </a:r>
            <a:r>
              <a:rPr lang="tr-TR" dirty="0"/>
              <a:t> of </a:t>
            </a:r>
            <a:r>
              <a:rPr lang="tr-TR" dirty="0" err="1"/>
              <a:t>Metals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3AE77-1E96-339F-4835-04F56B289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1001" y="1545978"/>
            <a:ext cx="3496828" cy="4569526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The strategy outperforms the buy-and-hold benchmark in 7 out of 8 assets. The largest gains are on assets where the benchmark struggled most — PALL, LIT, and JJU. The only exception is CPER, where copper's structural uptrend made mean reversion signals unreliable.</a:t>
            </a:r>
          </a:p>
          <a:p>
            <a:r>
              <a:rPr lang="en-US" sz="1600" dirty="0">
                <a:solidFill>
                  <a:srgbClr val="FFFFFF"/>
                </a:solidFill>
              </a:rPr>
              <a:t>Note that JJN and JJU were delisted in June 2023 and are evaluated over their available 2021 – 2023 window only. The remaining six assets are assessed across the full five-year period from 2021 to 2025.</a:t>
            </a:r>
          </a:p>
          <a:p>
            <a:endParaRPr lang="tr-TR" sz="1600" dirty="0">
              <a:solidFill>
                <a:srgbClr val="FFFFFF"/>
              </a:solidFill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8AE9DC0-E697-BF50-211C-D2B69B7F61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3277664"/>
              </p:ext>
            </p:extLst>
          </p:nvPr>
        </p:nvGraphicFramePr>
        <p:xfrm>
          <a:off x="549538" y="1499678"/>
          <a:ext cx="7264426" cy="45695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C80DC-185C-090F-11B0-5158BA31E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Performances</a:t>
            </a:r>
            <a:r>
              <a:rPr lang="tr-TR" dirty="0"/>
              <a:t> of </a:t>
            </a:r>
            <a:r>
              <a:rPr lang="tr-TR" dirty="0" err="1"/>
              <a:t>Metals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48B7E-C49D-A65E-8F18-58614704D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3795" y="1668780"/>
            <a:ext cx="3657343" cy="3979625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The strategy held cash for a significant portion of the time across all assets — ranging from 34% for GLD to 86% for JJN. This is not a weakness. High cash allocations correspond directly to periods where the strategy avoided large drawdowns. JJN is the clearest example: while the benchmark lost 61% over its available window, the strategy stayed in cash for most of it and drew down only 16%.</a:t>
            </a:r>
          </a:p>
          <a:p>
            <a:r>
              <a:rPr lang="en-US" sz="1600" dirty="0">
                <a:solidFill>
                  <a:srgbClr val="FFFFFF"/>
                </a:solidFill>
              </a:rPr>
              <a:t>GLD needed the least cash — its secular uptrend was strong enough that the </a:t>
            </a:r>
            <a:r>
              <a:rPr lang="en-US" sz="1600" dirty="0" err="1">
                <a:solidFill>
                  <a:srgbClr val="FFFFFF"/>
                </a:solidFill>
              </a:rPr>
              <a:t>optimiser</a:t>
            </a:r>
            <a:r>
              <a:rPr lang="en-US" sz="1600" dirty="0">
                <a:solidFill>
                  <a:srgbClr val="FFFFFF"/>
                </a:solidFill>
              </a:rPr>
              <a:t> stayed invested.</a:t>
            </a:r>
          </a:p>
          <a:p>
            <a:pPr marL="0" indent="0">
              <a:buNone/>
            </a:pPr>
            <a:endParaRPr lang="tr-TR" sz="1600" dirty="0">
              <a:solidFill>
                <a:srgbClr val="FFFFFF"/>
              </a:solidFill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B10743E-D9D4-5032-6656-989DBB2345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0441095"/>
              </p:ext>
            </p:extLst>
          </p:nvPr>
        </p:nvGraphicFramePr>
        <p:xfrm>
          <a:off x="549538" y="1668780"/>
          <a:ext cx="6981972" cy="41322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12464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B657C-0548-AAAA-99F6-3BE04857D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520825"/>
            <a:ext cx="4535487" cy="3779838"/>
          </a:xfrm>
        </p:spPr>
        <p:txBody>
          <a:bodyPr anchor="ctr">
            <a:normAutofit/>
          </a:bodyPr>
          <a:lstStyle/>
          <a:p>
            <a:r>
              <a:rPr lang="tr-TR" sz="6400" dirty="0"/>
              <a:t>Optimal </a:t>
            </a:r>
            <a:r>
              <a:rPr lang="tr-TR" sz="6400" dirty="0" err="1"/>
              <a:t>Parameters</a:t>
            </a:r>
            <a:r>
              <a:rPr lang="tr-TR" sz="6400" dirty="0"/>
              <a:t> </a:t>
            </a:r>
            <a:r>
              <a:rPr lang="tr-TR" sz="6400" dirty="0" err="1"/>
              <a:t>For</a:t>
            </a:r>
            <a:r>
              <a:rPr lang="tr-TR" sz="6400" dirty="0"/>
              <a:t> </a:t>
            </a:r>
            <a:r>
              <a:rPr lang="tr-TR" sz="6400" dirty="0" err="1"/>
              <a:t>Metals</a:t>
            </a:r>
            <a:endParaRPr lang="tr-TR" sz="6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0205E53-D75C-4F15-A4A3-21DA0826F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2950" y="623661"/>
            <a:ext cx="667800" cy="631474"/>
            <a:chOff x="8069541" y="1262702"/>
            <a:chExt cx="667800" cy="63147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B48C7E5-9699-4FB1-9EEE-581C68629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>
              <a:off x="8069541" y="1262702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10200000" scaled="0"/>
            </a:gradFill>
            <a:ln>
              <a:noFill/>
            </a:ln>
            <a:effectLst>
              <a:innerShdw blurRad="127000" dist="50800" dir="42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16993F2-7052-4269-8B81-AC271D2D9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8332341" y="1436239"/>
              <a:ext cx="270000" cy="540000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52D58DC7-20C8-4471-BAA7-B296A2AEC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384" y="49771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E4AABAC-100B-437F-86D3-981412859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3261346" y="5733597"/>
            <a:ext cx="1758388" cy="926985"/>
          </a:xfrm>
          <a:custGeom>
            <a:avLst/>
            <a:gdLst>
              <a:gd name="connsiteX0" fmla="*/ 1486881 w 1758388"/>
              <a:gd name="connsiteY0" fmla="*/ 271508 h 926985"/>
              <a:gd name="connsiteX1" fmla="*/ 1758388 w 1758388"/>
              <a:gd name="connsiteY1" fmla="*/ 926985 h 926985"/>
              <a:gd name="connsiteX2" fmla="*/ 1294895 w 1758388"/>
              <a:gd name="connsiteY2" fmla="*/ 926985 h 926985"/>
              <a:gd name="connsiteX3" fmla="*/ 831404 w 1758388"/>
              <a:gd name="connsiteY3" fmla="*/ 463493 h 926985"/>
              <a:gd name="connsiteX4" fmla="*/ 377328 w 1758388"/>
              <a:gd name="connsiteY4" fmla="*/ 833575 h 926985"/>
              <a:gd name="connsiteX5" fmla="*/ 371585 w 1758388"/>
              <a:gd name="connsiteY5" fmla="*/ 890552 h 926985"/>
              <a:gd name="connsiteX6" fmla="*/ 0 w 1758388"/>
              <a:gd name="connsiteY6" fmla="*/ 518968 h 926985"/>
              <a:gd name="connsiteX7" fmla="*/ 16301 w 1758388"/>
              <a:gd name="connsiteY7" fmla="*/ 485129 h 926985"/>
              <a:gd name="connsiteX8" fmla="*/ 831403 w 1758388"/>
              <a:gd name="connsiteY8" fmla="*/ 0 h 926985"/>
              <a:gd name="connsiteX9" fmla="*/ 1486881 w 1758388"/>
              <a:gd name="connsiteY9" fmla="*/ 271508 h 926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58388" h="926985">
                <a:moveTo>
                  <a:pt x="1486881" y="271508"/>
                </a:moveTo>
                <a:cubicBezTo>
                  <a:pt x="1654632" y="439259"/>
                  <a:pt x="1758388" y="671005"/>
                  <a:pt x="1758388" y="926985"/>
                </a:cubicBezTo>
                <a:lnTo>
                  <a:pt x="1294895" y="926985"/>
                </a:lnTo>
                <a:cubicBezTo>
                  <a:pt x="1294895" y="671005"/>
                  <a:pt x="1087383" y="463493"/>
                  <a:pt x="831404" y="463493"/>
                </a:cubicBezTo>
                <a:cubicBezTo>
                  <a:pt x="607421" y="463493"/>
                  <a:pt x="420547" y="622370"/>
                  <a:pt x="377328" y="833575"/>
                </a:cubicBezTo>
                <a:lnTo>
                  <a:pt x="371585" y="890552"/>
                </a:lnTo>
                <a:lnTo>
                  <a:pt x="0" y="518968"/>
                </a:lnTo>
                <a:lnTo>
                  <a:pt x="16301" y="485129"/>
                </a:lnTo>
                <a:cubicBezTo>
                  <a:pt x="173276" y="196165"/>
                  <a:pt x="479432" y="0"/>
                  <a:pt x="831403" y="0"/>
                </a:cubicBezTo>
                <a:cubicBezTo>
                  <a:pt x="1087383" y="0"/>
                  <a:pt x="1319129" y="103757"/>
                  <a:pt x="1486881" y="271508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innerShdw blurRad="254000" dist="50800" dir="5400000">
              <a:schemeClr val="accent1">
                <a:lumMod val="40000"/>
                <a:lumOff val="6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DFD33E0-4D46-4176-BAE2-6AED15231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3353363" y="5725768"/>
            <a:ext cx="1728640" cy="1042921"/>
          </a:xfrm>
          <a:custGeom>
            <a:avLst/>
            <a:gdLst>
              <a:gd name="connsiteX0" fmla="*/ 1391304 w 1728640"/>
              <a:gd name="connsiteY0" fmla="*/ 238153 h 1042921"/>
              <a:gd name="connsiteX1" fmla="*/ 1728640 w 1728640"/>
              <a:gd name="connsiteY1" fmla="*/ 1042921 h 1042921"/>
              <a:gd name="connsiteX2" fmla="*/ 1265147 w 1728640"/>
              <a:gd name="connsiteY2" fmla="*/ 1042921 h 1042921"/>
              <a:gd name="connsiteX3" fmla="*/ 801655 w 1728640"/>
              <a:gd name="connsiteY3" fmla="*/ 521461 h 1042921"/>
              <a:gd name="connsiteX4" fmla="*/ 374587 w 1728640"/>
              <a:gd name="connsiteY4" fmla="*/ 839945 h 1042921"/>
              <a:gd name="connsiteX5" fmla="*/ 362576 w 1728640"/>
              <a:gd name="connsiteY5" fmla="*/ 883477 h 1042921"/>
              <a:gd name="connsiteX6" fmla="*/ 0 w 1728640"/>
              <a:gd name="connsiteY6" fmla="*/ 520901 h 1042921"/>
              <a:gd name="connsiteX7" fmla="*/ 32986 w 1728640"/>
              <a:gd name="connsiteY7" fmla="*/ 459814 h 1042921"/>
              <a:gd name="connsiteX8" fmla="*/ 801656 w 1728640"/>
              <a:gd name="connsiteY8" fmla="*/ 0 h 1042921"/>
              <a:gd name="connsiteX9" fmla="*/ 1391304 w 1728640"/>
              <a:gd name="connsiteY9" fmla="*/ 238153 h 104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28640" h="1042921">
                <a:moveTo>
                  <a:pt x="1391304" y="238153"/>
                </a:moveTo>
                <a:cubicBezTo>
                  <a:pt x="1597323" y="429440"/>
                  <a:pt x="1728640" y="718927"/>
                  <a:pt x="1728640" y="1042921"/>
                </a:cubicBezTo>
                <a:lnTo>
                  <a:pt x="1265147" y="1042921"/>
                </a:lnTo>
                <a:cubicBezTo>
                  <a:pt x="1265147" y="754926"/>
                  <a:pt x="1057635" y="521461"/>
                  <a:pt x="801655" y="521461"/>
                </a:cubicBezTo>
                <a:cubicBezTo>
                  <a:pt x="609671" y="521461"/>
                  <a:pt x="444949" y="652785"/>
                  <a:pt x="374587" y="839945"/>
                </a:cubicBezTo>
                <a:lnTo>
                  <a:pt x="362576" y="883477"/>
                </a:lnTo>
                <a:lnTo>
                  <a:pt x="0" y="520901"/>
                </a:lnTo>
                <a:lnTo>
                  <a:pt x="32986" y="459814"/>
                </a:lnTo>
                <a:cubicBezTo>
                  <a:pt x="199571" y="182395"/>
                  <a:pt x="481681" y="0"/>
                  <a:pt x="801656" y="0"/>
                </a:cubicBezTo>
                <a:cubicBezTo>
                  <a:pt x="1025638" y="0"/>
                  <a:pt x="1231066" y="89374"/>
                  <a:pt x="1391304" y="23815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22B5D87-7689-4E7F-B03A-7F803B5DF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872920" y="5836283"/>
            <a:ext cx="107098" cy="466589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2540000">
              <a:schemeClr val="accent1">
                <a:lumMod val="40000"/>
                <a:lumOff val="60000"/>
                <a:alpha val="2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01C8FF-1A19-7843-3143-AB68CD2509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1062476"/>
              </p:ext>
            </p:extLst>
          </p:nvPr>
        </p:nvGraphicFramePr>
        <p:xfrm>
          <a:off x="5267325" y="549275"/>
          <a:ext cx="6373814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911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2A66F-0997-AB00-7805-E9E2212FE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altLang="tr-TR" dirty="0"/>
              <a:t>Performance </a:t>
            </a:r>
            <a:r>
              <a:rPr lang="tr-TR" altLang="tr-TR" dirty="0" err="1"/>
              <a:t>across</a:t>
            </a:r>
            <a:r>
              <a:rPr lang="tr-TR" altLang="tr-TR" dirty="0"/>
              <a:t> </a:t>
            </a:r>
            <a:r>
              <a:rPr lang="tr-TR" altLang="tr-TR" dirty="0" err="1"/>
              <a:t>four</a:t>
            </a:r>
            <a:r>
              <a:rPr lang="tr-TR" altLang="tr-TR" dirty="0"/>
              <a:t> market regimes</a:t>
            </a:r>
            <a:endParaRPr lang="tr-TR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86F516-483D-26A8-1AD4-49B7E55B4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1" y="2082301"/>
            <a:ext cx="9940157" cy="422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779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07DB5-D0DC-BA69-549C-9F58FBFD0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Full 5 Years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5EAF0-CB73-2F95-7694-D681535F6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44716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D9A1F-11FC-0B1E-E0BC-D22EC957F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The Rate Shock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31E0E-39A7-AEC3-CB16-B48096D3E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75764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FEC20-0DF4-2B9C-18AE-A31BD406D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The AI Rally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1EBB3-B158-A5C2-78ED-F2D065C87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4976726"/>
            <a:ext cx="11090274" cy="1116098"/>
          </a:xfrm>
        </p:spPr>
        <p:txBody>
          <a:bodyPr/>
          <a:lstStyle/>
          <a:p>
            <a:endParaRPr lang="tr-TR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6444C08F-7F55-926F-EDB0-3852924F6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38" y="1352426"/>
            <a:ext cx="5241662" cy="3387739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E443A5F5-91DE-B44F-9926-FD14D771D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475" y="1352425"/>
            <a:ext cx="5241662" cy="338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508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F3015-DF14-06DE-9C7C-3899207FA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Volatile Year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69572-D935-A833-9D6F-3560A48F9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4912740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88</TotalTime>
  <Words>1274</Words>
  <Application>Microsoft Office PowerPoint</Application>
  <PresentationFormat>Widescreen</PresentationFormat>
  <Paragraphs>83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Avenir Next LT Pro</vt:lpstr>
      <vt:lpstr>Calibri</vt:lpstr>
      <vt:lpstr>Georgia</vt:lpstr>
      <vt:lpstr>3DFloatVTI</vt:lpstr>
      <vt:lpstr>Smart Mining Mean Reversion Strategy on AI Infrastructure Commodities </vt:lpstr>
      <vt:lpstr>Introduction</vt:lpstr>
      <vt:lpstr>Assets</vt:lpstr>
      <vt:lpstr>Signal Generation : Mean Reversion</vt:lpstr>
      <vt:lpstr>Portfolio Construction : Markowitz Optimization</vt:lpstr>
      <vt:lpstr>Risk Control : Stop-Loss Mechanism</vt:lpstr>
      <vt:lpstr>Backtest</vt:lpstr>
      <vt:lpstr>Backtest-Parameter Optimization</vt:lpstr>
      <vt:lpstr>Performances of Metals</vt:lpstr>
      <vt:lpstr>Performances of Metals</vt:lpstr>
      <vt:lpstr>Optimal Parameters For Metals</vt:lpstr>
      <vt:lpstr>Performance across four market regimes</vt:lpstr>
      <vt:lpstr>Full 5 Years</vt:lpstr>
      <vt:lpstr>The Rate Shock </vt:lpstr>
      <vt:lpstr>The AI Rally</vt:lpstr>
      <vt:lpstr>Volatile Year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Nazlı Ceyda Ünsoy</dc:creator>
  <cp:lastModifiedBy>Nazlı Ceyda Ünsoy</cp:lastModifiedBy>
  <cp:revision>5</cp:revision>
  <dcterms:created xsi:type="dcterms:W3CDTF">2026-03-24T21:03:16Z</dcterms:created>
  <dcterms:modified xsi:type="dcterms:W3CDTF">2026-03-24T22:32:11Z</dcterms:modified>
</cp:coreProperties>
</file>